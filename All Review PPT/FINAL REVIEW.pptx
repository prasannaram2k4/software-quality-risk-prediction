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2"/>
    <p:sldId id="271" r:id="rId3"/>
    <p:sldId id="264" r:id="rId4"/>
    <p:sldId id="269" r:id="rId5"/>
    <p:sldId id="280" r:id="rId6"/>
    <p:sldId id="258" r:id="rId7"/>
    <p:sldId id="265" r:id="rId8"/>
    <p:sldId id="266" r:id="rId9"/>
    <p:sldId id="259" r:id="rId10"/>
    <p:sldId id="273" r:id="rId11"/>
    <p:sldId id="260" r:id="rId12"/>
    <p:sldId id="276" r:id="rId13"/>
    <p:sldId id="278" r:id="rId14"/>
    <p:sldId id="277" r:id="rId15"/>
    <p:sldId id="261" r:id="rId16"/>
    <p:sldId id="272" r:id="rId17"/>
    <p:sldId id="268" r:id="rId18"/>
    <p:sldId id="270" r:id="rId1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5" userDrawn="1">
          <p15:clr>
            <a:srgbClr val="A4A3A4"/>
          </p15:clr>
        </p15:guide>
        <p15:guide id="2" pos="37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69" d="100"/>
          <a:sy n="69" d="100"/>
        </p:scale>
        <p:origin x="432" y="60"/>
      </p:cViewPr>
      <p:guideLst>
        <p:guide orient="horz" pos="2345"/>
        <p:guide pos="37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49500"/>
            <a:ext cx="9144000" cy="1230630"/>
          </a:xfrm>
        </p:spPr>
        <p:txBody>
          <a:bodyPr>
            <a:normAutofit fontScale="90000"/>
          </a:bodyPr>
          <a:lstStyle/>
          <a:p>
            <a:r>
              <a:rPr lang="en-US" altLang="en-US" sz="2220" b="1" dirty="0">
                <a:latin typeface="Times New Roman" panose="02020603050405020304" charset="0"/>
                <a:cs typeface="Times New Roman" panose="02020603050405020304" charset="0"/>
              </a:rPr>
              <a:t>DEPARTMENT OF COMPUTER SCIENCE</a:t>
            </a:r>
            <a:br>
              <a:rPr lang="en-US" altLang="en-US" sz="2220" b="1" dirty="0">
                <a:latin typeface="Times New Roman" panose="02020603050405020304" charset="0"/>
                <a:cs typeface="Times New Roman" panose="02020603050405020304" charset="0"/>
              </a:rPr>
            </a:br>
            <a:r>
              <a:rPr lang="en-US" altLang="en-US" sz="2220" b="1">
                <a:latin typeface="Times New Roman" panose="02020603050405020304" charset="0"/>
                <a:cs typeface="Times New Roman" panose="02020603050405020304" charset="0"/>
              </a:rPr>
              <a:t>PROJECT FINAL</a:t>
            </a:r>
            <a:r>
              <a:rPr lang="en-US" sz="2220" b="1">
                <a:latin typeface="Times New Roman" panose="02020603050405020304" charset="0"/>
                <a:cs typeface="Times New Roman" panose="02020603050405020304" charset="0"/>
              </a:rPr>
              <a:t> </a:t>
            </a:r>
            <a:r>
              <a:rPr lang="en-US" sz="2220" b="1" dirty="0">
                <a:latin typeface="Times New Roman" panose="02020603050405020304" charset="0"/>
                <a:cs typeface="Times New Roman" panose="02020603050405020304" charset="0"/>
              </a:rPr>
              <a:t>REVIEW</a:t>
            </a:r>
            <a:br>
              <a:rPr lang="en-US" sz="2000" b="1" dirty="0">
                <a:latin typeface="Times New Roman" panose="02020603050405020304" charset="0"/>
                <a:cs typeface="Times New Roman" panose="02020603050405020304" charset="0"/>
              </a:rPr>
            </a:br>
            <a:br>
              <a:rPr lang="en-US" sz="2000" b="1" dirty="0">
                <a:latin typeface="Times New Roman" panose="02020603050405020304" charset="0"/>
                <a:cs typeface="Times New Roman" panose="02020603050405020304" charset="0"/>
              </a:rPr>
            </a:br>
            <a:r>
              <a:rPr lang="en-US" altLang="en-US" sz="2400" b="1" dirty="0">
                <a:latin typeface="Times New Roman" panose="02020603050405020304" charset="0"/>
                <a:cs typeface="Times New Roman" panose="02020603050405020304" charset="0"/>
              </a:rPr>
              <a:t>SOFTWARE QUALITY ANALYTICS AND RISK</a:t>
            </a:r>
            <a:br>
              <a:rPr lang="en-US" altLang="en-US" sz="2400" b="1" dirty="0">
                <a:latin typeface="Times New Roman" panose="02020603050405020304" charset="0"/>
                <a:cs typeface="Times New Roman" panose="02020603050405020304" charset="0"/>
              </a:rPr>
            </a:br>
            <a:r>
              <a:rPr lang="en-US" altLang="en-US" sz="2400" b="1" dirty="0">
                <a:latin typeface="Times New Roman" panose="02020603050405020304" charset="0"/>
                <a:cs typeface="Times New Roman" panose="02020603050405020304" charset="0"/>
              </a:rPr>
              <a:t>ASSESSMENT USING CLOUD-BASED MACHINE LEARNING</a:t>
            </a:r>
          </a:p>
        </p:txBody>
      </p:sp>
      <p:graphicFrame>
        <p:nvGraphicFramePr>
          <p:cNvPr id="4" name="Object 3"/>
          <p:cNvGraphicFramePr/>
          <p:nvPr/>
        </p:nvGraphicFramePr>
        <p:xfrm>
          <a:off x="1833245" y="421640"/>
          <a:ext cx="8525510" cy="1114425"/>
        </p:xfrm>
        <a:graphic>
          <a:graphicData uri="http://schemas.openxmlformats.org/presentationml/2006/ole">
            <mc:AlternateContent xmlns:mc="http://schemas.openxmlformats.org/markup-compatibility/2006">
              <mc:Choice xmlns:v="urn:schemas-microsoft-com:vml" Requires="v">
                <p:oleObj r:id="rId2" imgW="4676775" imgH="1362075" progId="Paint.Picture">
                  <p:embed/>
                </p:oleObj>
              </mc:Choice>
              <mc:Fallback>
                <p:oleObj r:id="rId2" imgW="4676775" imgH="1362075" progId="Paint.Picture">
                  <p:embed/>
                  <p:pic>
                    <p:nvPicPr>
                      <p:cNvPr id="0" name="Picture 4"/>
                      <p:cNvPicPr/>
                      <p:nvPr/>
                    </p:nvPicPr>
                    <p:blipFill>
                      <a:blip r:embed="rId3"/>
                      <a:stretch>
                        <a:fillRect/>
                      </a:stretch>
                    </p:blipFill>
                    <p:spPr>
                      <a:xfrm>
                        <a:off x="1833245" y="421640"/>
                        <a:ext cx="8525510" cy="1114425"/>
                      </a:xfrm>
                      <a:prstGeom prst="rect">
                        <a:avLst/>
                      </a:prstGeom>
                    </p:spPr>
                  </p:pic>
                </p:oleObj>
              </mc:Fallback>
            </mc:AlternateContent>
          </a:graphicData>
        </a:graphic>
      </p:graphicFrame>
      <p:sp>
        <p:nvSpPr>
          <p:cNvPr id="8" name="Text Box 7"/>
          <p:cNvSpPr txBox="1"/>
          <p:nvPr/>
        </p:nvSpPr>
        <p:spPr>
          <a:xfrm>
            <a:off x="2536825" y="3580130"/>
            <a:ext cx="7156450" cy="2850515"/>
          </a:xfrm>
          <a:prstGeom prst="rect">
            <a:avLst/>
          </a:prstGeom>
          <a:noFill/>
        </p:spPr>
        <p:txBody>
          <a:bodyPr wrap="square" rtlCol="0">
            <a:noAutofit/>
          </a:bodyPr>
          <a:lstStyle/>
          <a:p>
            <a:endParaRPr lang="en-US" dirty="0"/>
          </a:p>
          <a:p>
            <a:r>
              <a:rPr lang="en-US" sz="2000" dirty="0">
                <a:latin typeface="Times New Roman" panose="02020603050405020304" charset="0"/>
                <a:cs typeface="Times New Roman" panose="02020603050405020304" charset="0"/>
              </a:rPr>
              <a:t>Prasannaram R R [[redacted]]</a:t>
            </a:r>
          </a:p>
          <a:p>
            <a:pPr marL="3200400" lvl="7" indent="457200"/>
            <a:r>
              <a:rPr lang="en-US" sz="2000" dirty="0">
                <a:latin typeface="Times New Roman" panose="02020603050405020304" charset="0"/>
                <a:cs typeface="Times New Roman" panose="02020603050405020304" charset="0"/>
              </a:rPr>
              <a:t>            Guided by </a:t>
            </a:r>
          </a:p>
          <a:p>
            <a:pPr marL="3200400" lvl="7" indent="457200"/>
            <a:r>
              <a:rPr lang="en-US" sz="2000" dirty="0" err="1">
                <a:latin typeface="Times New Roman" panose="02020603050405020304" charset="0"/>
                <a:cs typeface="Times New Roman" panose="02020603050405020304" charset="0"/>
              </a:rPr>
              <a:t>                   Dr. Jamuna R</a:t>
            </a:r>
          </a:p>
          <a:p>
            <a:pPr marL="3200400" lvl="7" indent="457200"/>
            <a:r>
              <a:rPr lang="en-US" sz="2000" dirty="0" err="1">
                <a:latin typeface="Times New Roman" panose="02020603050405020304" charset="0"/>
                <a:cs typeface="Times New Roman" panose="02020603050405020304" charset="0"/>
              </a:rPr>
              <a:t>                   Professor/CSE</a:t>
            </a:r>
          </a:p>
          <a:p>
            <a:pPr marL="3200400" lvl="7" indent="457200"/>
            <a:r>
              <a:rPr lang="en-US" sz="2000" dirty="0" err="1">
                <a:latin typeface="Times New Roman" panose="02020603050405020304" charset="0"/>
                <a:cs typeface="Times New Roman" panose="02020603050405020304" charset="0"/>
              </a:rPr>
              <a:t>         </a:t>
            </a:r>
          </a:p>
          <a:p>
            <a:pPr marL="3200400" lvl="7" indent="457200"/>
            <a:r>
              <a:rPr lang="en-US" sz="2000" dirty="0" err="1">
                <a:latin typeface="Times New Roman" panose="02020603050405020304" charset="0"/>
                <a:cs typeface="Times New Roman" panose="02020603050405020304" charset="0"/>
              </a:rPr>
              <a:t>           </a:t>
            </a:r>
            <a:endParaRPr lang="en-US" sz="2000" dirty="0">
              <a:latin typeface="Times New Roman" panose="02020603050405020304" charset="0"/>
              <a:cs typeface="Times New Roman" panose="02020603050405020304" charset="0"/>
            </a:endParaRPr>
          </a:p>
          <a:p>
            <a:endParaRPr lang="en-US" sz="2000" dirty="0">
              <a:latin typeface="Times New Roman" panose="02020603050405020304" charset="0"/>
              <a:cs typeface="Times New Roman" panose="02020603050405020304" charset="0"/>
            </a:endParaRPr>
          </a:p>
        </p:txBody>
      </p:sp>
      <p:sp>
        <p:nvSpPr>
          <p:cNvPr id="9" name="Text Box 8"/>
          <p:cNvSpPr txBox="1"/>
          <p:nvPr/>
        </p:nvSpPr>
        <p:spPr>
          <a:xfrm>
            <a:off x="10427970" y="4820920"/>
            <a:ext cx="4064000" cy="368300"/>
          </a:xfrm>
          <a:prstGeom prst="rect">
            <a:avLst/>
          </a:prstGeom>
          <a:noFill/>
        </p:spPr>
        <p:txBody>
          <a:bodyPr wrap="squar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91995" y="2164715"/>
            <a:ext cx="9208770" cy="3479800"/>
          </a:xfrm>
        </p:spPr>
        <p:txBody>
          <a:bodyPr>
            <a:normAutofit fontScale="70000"/>
          </a:bodyPr>
          <a:lstStyle/>
          <a:p>
            <a:pPr algn="l"/>
            <a:r>
              <a:rPr lang="en-US" altLang="en-US" sz="2855">
                <a:solidFill>
                  <a:schemeClr val="tx1"/>
                </a:solidFill>
                <a:latin typeface="Times New Roman" panose="02020603050405020304" charset="0"/>
                <a:cs typeface="Times New Roman" panose="02020603050405020304" charset="0"/>
              </a:rPr>
              <a:t>Software defects reduce reliability and increase maintenance costs, while traditional testing methods often identify issues only in the later stages of development. This leads to delays in fixing errors, increased project expenses, and reduced overall efficiency. As software systems become more complex, manually detecting defects becomes difficult and time-consuming for developers and testers.</a:t>
            </a:r>
          </a:p>
          <a:p>
            <a:pPr algn="l"/>
            <a:r>
              <a:rPr lang="en-US" altLang="en-US" sz="2855">
                <a:solidFill>
                  <a:schemeClr val="tx1"/>
                </a:solidFill>
                <a:latin typeface="Times New Roman" panose="02020603050405020304" charset="0"/>
                <a:cs typeface="Times New Roman" panose="02020603050405020304" charset="0"/>
              </a:rPr>
              <a:t>To overcome these challenges, the proposed system uses cloud-based machine learning techniques to analyze historical software metrics and predict defect-prone modules at an early stage. The system helps in identifying potential risks before deployment, enabling developers to take preventive actions in advance. This improves software quality, supports effective risk assessment, and assists teams in making better quality-focused decisions throughout the software development lifecycle.</a:t>
            </a:r>
          </a:p>
        </p:txBody>
      </p:sp>
      <p:sp>
        <p:nvSpPr>
          <p:cNvPr id="2" name="Text Box 1"/>
          <p:cNvSpPr txBox="1"/>
          <p:nvPr/>
        </p:nvSpPr>
        <p:spPr>
          <a:xfrm>
            <a:off x="5246370" y="1216025"/>
            <a:ext cx="2052955" cy="403860"/>
          </a:xfrm>
          <a:prstGeom prst="rect">
            <a:avLst/>
          </a:prstGeom>
          <a:noFill/>
        </p:spPr>
        <p:txBody>
          <a:bodyPr wrap="square" rtlCol="0">
            <a:noAutofit/>
          </a:bodyPr>
          <a:lstStyle/>
          <a:p>
            <a:pPr algn="ctr"/>
            <a:r>
              <a:rPr lang="en-US" sz="2800">
                <a:latin typeface="Times New Roman" panose="02020603050405020304" charset="0"/>
                <a:cs typeface="Times New Roman" panose="02020603050405020304" charset="0"/>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99995" y="1812290"/>
            <a:ext cx="8419465" cy="3233420"/>
          </a:xfrm>
        </p:spPr>
        <p:txBody>
          <a:bodyPr>
            <a:noAutofit/>
          </a:bodyPr>
          <a:lstStyle/>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design a cloud-based machine learning system for software quality analytics</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implement analysis of historical software metrics and defect data</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develop a model for predicting defect-prone software modules</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implement classification of modules into high, medium, and low risk categories</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support better testing prioritization and quality-oriented decision making</a:t>
            </a: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endParaRPr lang="en-US" altLang="en-US" sz="1900">
              <a:latin typeface="Times New Roman" panose="02020603050405020304" charset="0"/>
              <a:cs typeface="Times New Roman" panose="02020603050405020304" charset="0"/>
            </a:endParaRPr>
          </a:p>
          <a:p>
            <a:pPr marL="285750" indent="-285750" algn="l">
              <a:lnSpc>
                <a:spcPct val="100000"/>
              </a:lnSpc>
              <a:spcBef>
                <a:spcPts val="130"/>
              </a:spcBef>
              <a:buFont typeface="Wingdings" panose="05000000000000000000" charset="0"/>
              <a:buChar char=""/>
            </a:pPr>
            <a:r>
              <a:rPr lang="en-US" altLang="en-US" sz="1900">
                <a:latin typeface="Times New Roman" panose="02020603050405020304" charset="0"/>
                <a:cs typeface="Times New Roman" panose="02020603050405020304" charset="0"/>
                <a:sym typeface="+mn-ea"/>
              </a:rPr>
              <a:t>To improve overall software reliability and reduce maintenance cost</a:t>
            </a:r>
            <a:endParaRPr lang="en-US" altLang="en-US" sz="500">
              <a:solidFill>
                <a:srgbClr val="FF0000"/>
              </a:solidFill>
              <a:latin typeface="Times New Roman" panose="02020603050405020304" charset="0"/>
              <a:cs typeface="Times New Roman" panose="02020603050405020304" charset="0"/>
              <a:sym typeface="+mn-ea"/>
            </a:endParaRPr>
          </a:p>
        </p:txBody>
      </p:sp>
      <p:sp>
        <p:nvSpPr>
          <p:cNvPr id="2" name="Text Box 1"/>
          <p:cNvSpPr txBox="1"/>
          <p:nvPr/>
        </p:nvSpPr>
        <p:spPr>
          <a:xfrm>
            <a:off x="5506085" y="723900"/>
            <a:ext cx="2407285" cy="525780"/>
          </a:xfrm>
          <a:prstGeom prst="rect">
            <a:avLst/>
          </a:prstGeom>
          <a:noFill/>
        </p:spPr>
        <p:txBody>
          <a:bodyPr wrap="square" rtlCol="0">
            <a:noAutofit/>
          </a:bodyPr>
          <a:lstStyle/>
          <a:p>
            <a:pPr algn="ctr"/>
            <a:r>
              <a:rPr lang="en-US" sz="2800" b="1">
                <a:latin typeface="Times New Roman" panose="02020603050405020304" charset="0"/>
                <a:cs typeface="Times New Roman" panose="02020603050405020304" charset="0"/>
                <a:sym typeface="+mn-ea"/>
              </a:rPr>
              <a:t>OBJECTIVE  </a:t>
            </a:r>
            <a:endParaRPr lang="en-US" b="1">
              <a:latin typeface="Times New Roman" panose="02020603050405020304" charset="0"/>
              <a:cs typeface="Times New Roman" panose="02020603050405020304" charset="0"/>
            </a:endParaRPr>
          </a:p>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15105" y="368300"/>
            <a:ext cx="4676775" cy="678180"/>
          </a:xfrm>
        </p:spPr>
        <p:txBody>
          <a:bodyPr>
            <a:noAutofit/>
          </a:bodyPr>
          <a:lstStyle/>
          <a:p>
            <a:pPr algn="ctr"/>
            <a:r>
              <a:rPr lang="en-US" sz="2800" b="1">
                <a:latin typeface="Times New Roman" panose="02020603050405020304" charset="0"/>
                <a:cs typeface="Times New Roman" panose="02020603050405020304" charset="0"/>
                <a:sym typeface="+mn-ea"/>
              </a:rPr>
              <a:t>LITERATURE SURVEY</a:t>
            </a:r>
            <a:endParaRPr lang="en-US" sz="2800" b="1">
              <a:solidFill>
                <a:srgbClr val="FF0000"/>
              </a:solidFill>
              <a:latin typeface="Times New Roman" panose="02020603050405020304" charset="0"/>
              <a:cs typeface="Times New Roman" panose="02020603050405020304" charset="0"/>
              <a:sym typeface="+mn-ea"/>
            </a:endParaRPr>
          </a:p>
        </p:txBody>
      </p:sp>
      <p:graphicFrame>
        <p:nvGraphicFramePr>
          <p:cNvPr id="2" name="Table 1"/>
          <p:cNvGraphicFramePr/>
          <p:nvPr>
            <p:custDataLst>
              <p:tags r:id="rId1"/>
            </p:custDataLst>
          </p:nvPr>
        </p:nvGraphicFramePr>
        <p:xfrm>
          <a:off x="298450" y="1148715"/>
          <a:ext cx="11670030" cy="4907280"/>
        </p:xfrm>
        <a:graphic>
          <a:graphicData uri="http://schemas.openxmlformats.org/drawingml/2006/table">
            <a:tbl>
              <a:tblPr firstRow="1" bandRow="1">
                <a:tableStyleId>{5C22544A-7EE6-4342-B048-85BDC9FD1C3A}</a:tableStyleId>
              </a:tblPr>
              <a:tblGrid>
                <a:gridCol w="927735">
                  <a:extLst>
                    <a:ext uri="{9D8B030D-6E8A-4147-A177-3AD203B41FA5}">
                      <a16:colId xmlns:a16="http://schemas.microsoft.com/office/drawing/2014/main" val="20000"/>
                    </a:ext>
                  </a:extLst>
                </a:gridCol>
                <a:gridCol w="2030095">
                  <a:extLst>
                    <a:ext uri="{9D8B030D-6E8A-4147-A177-3AD203B41FA5}">
                      <a16:colId xmlns:a16="http://schemas.microsoft.com/office/drawing/2014/main" val="20001"/>
                    </a:ext>
                  </a:extLst>
                </a:gridCol>
                <a:gridCol w="4502785">
                  <a:extLst>
                    <a:ext uri="{9D8B030D-6E8A-4147-A177-3AD203B41FA5}">
                      <a16:colId xmlns:a16="http://schemas.microsoft.com/office/drawing/2014/main" val="20002"/>
                    </a:ext>
                  </a:extLst>
                </a:gridCol>
                <a:gridCol w="4209415">
                  <a:extLst>
                    <a:ext uri="{9D8B030D-6E8A-4147-A177-3AD203B41FA5}">
                      <a16:colId xmlns:a16="http://schemas.microsoft.com/office/drawing/2014/main" val="20003"/>
                    </a:ext>
                  </a:extLst>
                </a:gridCol>
              </a:tblGrid>
              <a:tr h="640080">
                <a:tc>
                  <a:txBody>
                    <a:bodyPr/>
                    <a:lstStyle/>
                    <a:p>
                      <a:pPr algn="ctr">
                        <a:buNone/>
                      </a:pPr>
                      <a:r>
                        <a:rPr lang="en-US" b="1" dirty="0" err="1">
                          <a:latin typeface="Times New Roman" panose="02020603050405020304" charset="0"/>
                          <a:cs typeface="Times New Roman" panose="02020603050405020304" charset="0"/>
                        </a:rPr>
                        <a:t>S.No</a:t>
                      </a:r>
                    </a:p>
                  </a:txBody>
                  <a:tcPr/>
                </a:tc>
                <a:tc>
                  <a:txBody>
                    <a:bodyPr/>
                    <a:lstStyle/>
                    <a:p>
                      <a:pPr algn="ctr">
                        <a:buNone/>
                      </a:pPr>
                      <a:r>
                        <a:rPr lang="en-US" b="1">
                          <a:latin typeface="Times New Roman" panose="02020603050405020304" charset="0"/>
                          <a:cs typeface="Times New Roman" panose="02020603050405020304" charset="0"/>
                        </a:rPr>
                        <a:t>Authors/Year of Publication</a:t>
                      </a:r>
                    </a:p>
                  </a:txBody>
                  <a:tcPr/>
                </a:tc>
                <a:tc>
                  <a:txBody>
                    <a:bodyPr/>
                    <a:lstStyle/>
                    <a:p>
                      <a:pPr algn="ctr">
                        <a:buNone/>
                      </a:pPr>
                      <a:r>
                        <a:rPr lang="en-US" b="1">
                          <a:latin typeface="Times New Roman" panose="02020603050405020304" charset="0"/>
                          <a:cs typeface="Times New Roman" panose="02020603050405020304" charset="0"/>
                        </a:rPr>
                        <a:t>Title of the paper</a:t>
                      </a:r>
                    </a:p>
                  </a:txBody>
                  <a:tcPr/>
                </a:tc>
                <a:tc>
                  <a:txBody>
                    <a:bodyPr/>
                    <a:lstStyle/>
                    <a:p>
                      <a:pPr algn="ctr">
                        <a:buNone/>
                      </a:pPr>
                      <a:r>
                        <a:rPr lang="en-US" b="1">
                          <a:latin typeface="Times New Roman" panose="02020603050405020304" charset="0"/>
                          <a:cs typeface="Times New Roman" panose="02020603050405020304" charset="0"/>
                        </a:rPr>
                        <a:t>Observation/techniques/</a:t>
                      </a:r>
                    </a:p>
                    <a:p>
                      <a:pPr algn="ctr">
                        <a:buNone/>
                      </a:pPr>
                      <a:r>
                        <a:rPr lang="en-US" b="1">
                          <a:latin typeface="Times New Roman" panose="02020603050405020304" charset="0"/>
                          <a:cs typeface="Times New Roman" panose="02020603050405020304" charset="0"/>
                        </a:rPr>
                        <a:t>Methodology</a:t>
                      </a:r>
                    </a:p>
                  </a:txBody>
                  <a:tcPr/>
                </a:tc>
                <a:extLst>
                  <a:ext uri="{0D108BD9-81ED-4DB2-BD59-A6C34878D82A}">
                    <a16:rowId xmlns:a16="http://schemas.microsoft.com/office/drawing/2014/main" val="10000"/>
                  </a:ext>
                </a:extLst>
              </a:tr>
              <a:tr h="1066800">
                <a:tc>
                  <a:txBody>
                    <a:bodyPr/>
                    <a:lstStyle/>
                    <a:p>
                      <a:pPr algn="ctr">
                        <a:buNone/>
                      </a:pPr>
                      <a:r>
                        <a:rPr lang="en-US" sz="1600" dirty="0">
                          <a:latin typeface="Times New Roman" panose="02020603050405020304" charset="0"/>
                          <a:cs typeface="Times New Roman" panose="02020603050405020304" charset="0"/>
                        </a:rPr>
                        <a:t>1</a:t>
                      </a:r>
                    </a:p>
                  </a:txBody>
                  <a:tcPr/>
                </a:tc>
                <a:tc>
                  <a:txBody>
                    <a:bodyPr/>
                    <a:lstStyle/>
                    <a:p>
                      <a:pPr algn="ctr">
                        <a:buNone/>
                      </a:pPr>
                      <a:r>
                        <a:rPr lang="en-US" altLang="en-US" sz="1600" dirty="0">
                          <a:latin typeface="Times New Roman" panose="02020603050405020304" charset="0"/>
                          <a:cs typeface="Times New Roman" panose="02020603050405020304" charset="0"/>
                        </a:rPr>
                        <a:t>PARVATHANENI NAGA SRINIVASU.,IEEE Access 2025</a:t>
                      </a:r>
                    </a:p>
                  </a:txBody>
                  <a:tcPr/>
                </a:tc>
                <a:tc>
                  <a:txBody>
                    <a:bodyPr/>
                    <a:lstStyle/>
                    <a:p>
                      <a:pPr algn="ctr">
                        <a:buNone/>
                      </a:pPr>
                      <a:r>
                        <a:rPr lang="en-US" altLang="en-US" sz="1600" dirty="0">
                          <a:latin typeface="Times New Roman" panose="02020603050405020304" charset="0"/>
                          <a:cs typeface="Times New Roman" panose="02020603050405020304" charset="0"/>
                        </a:rPr>
                        <a:t>XAI Driven Software Defect Prediction Using</a:t>
                      </a:r>
                    </a:p>
                    <a:p>
                      <a:pPr algn="ctr">
                        <a:buNone/>
                      </a:pPr>
                      <a:r>
                        <a:rPr lang="en-US" altLang="en-US" sz="1600" dirty="0">
                          <a:latin typeface="Times New Roman" panose="02020603050405020304" charset="0"/>
                          <a:cs typeface="Times New Roman" panose="02020603050405020304" charset="0"/>
                        </a:rPr>
                        <a:t>Adaptive Feature Engineering Coupled With</a:t>
                      </a:r>
                    </a:p>
                    <a:p>
                      <a:pPr algn="ctr">
                        <a:buNone/>
                      </a:pPr>
                      <a:r>
                        <a:rPr lang="en-US" altLang="en-US" sz="1600" dirty="0">
                          <a:latin typeface="Times New Roman" panose="02020603050405020304" charset="0"/>
                          <a:cs typeface="Times New Roman" panose="02020603050405020304" charset="0"/>
                        </a:rPr>
                        <a:t>Autoencoder and Multi-Layer Perceptron:</a:t>
                      </a:r>
                    </a:p>
                    <a:p>
                      <a:pPr algn="ctr">
                        <a:buNone/>
                      </a:pPr>
                      <a:r>
                        <a:rPr lang="en-US" altLang="en-US" sz="1600" dirty="0">
                          <a:latin typeface="Times New Roman" panose="02020603050405020304" charset="0"/>
                          <a:cs typeface="Times New Roman" panose="02020603050405020304" charset="0"/>
                        </a:rPr>
                        <a:t>An Empirical Study</a:t>
                      </a:r>
                    </a:p>
                  </a:txBody>
                  <a:tcPr/>
                </a:tc>
                <a:tc>
                  <a:txBody>
                    <a:bodyPr/>
                    <a:lstStyle/>
                    <a:p>
                      <a:pPr algn="ctr">
                        <a:buNone/>
                      </a:pPr>
                      <a:r>
                        <a:rPr lang="en-US" altLang="en-US" sz="1600" dirty="0">
                          <a:latin typeface="Times New Roman" panose="02020603050405020304" charset="0"/>
                          <a:cs typeface="Times New Roman" panose="02020603050405020304" charset="0"/>
                        </a:rPr>
                        <a:t>Uses Autoencoder, MLP, and XAI techniques for improved software defect prediction accuracy and interpretability.</a:t>
                      </a:r>
                    </a:p>
                  </a:txBody>
                  <a:tcPr/>
                </a:tc>
                <a:extLst>
                  <a:ext uri="{0D108BD9-81ED-4DB2-BD59-A6C34878D82A}">
                    <a16:rowId xmlns:a16="http://schemas.microsoft.com/office/drawing/2014/main" val="10001"/>
                  </a:ext>
                </a:extLst>
              </a:tr>
              <a:tr h="822960">
                <a:tc>
                  <a:txBody>
                    <a:bodyPr/>
                    <a:lstStyle/>
                    <a:p>
                      <a:pPr algn="ctr">
                        <a:buNone/>
                      </a:pPr>
                      <a:r>
                        <a:rPr lang="en-US" sz="1600" dirty="0">
                          <a:latin typeface="Times New Roman" panose="02020603050405020304" charset="0"/>
                          <a:cs typeface="Times New Roman" panose="02020603050405020304" charset="0"/>
                        </a:rPr>
                        <a:t>2</a:t>
                      </a:r>
                    </a:p>
                  </a:txBody>
                  <a:tcPr/>
                </a:tc>
                <a:tc>
                  <a:txBody>
                    <a:bodyPr/>
                    <a:lstStyle/>
                    <a:p>
                      <a:pPr algn="ctr">
                        <a:buNone/>
                      </a:pPr>
                      <a:r>
                        <a:rPr lang="en-US" altLang="en-US" sz="1600" dirty="0">
                          <a:latin typeface="Times New Roman" panose="02020603050405020304" charset="0"/>
                          <a:cs typeface="Times New Roman" panose="02020603050405020304" charset="0"/>
                        </a:rPr>
                        <a:t>M. Ali et al., IEEE Access 2024</a:t>
                      </a:r>
                    </a:p>
                  </a:txBody>
                  <a:tcPr/>
                </a:tc>
                <a:tc>
                  <a:txBody>
                    <a:bodyPr/>
                    <a:lstStyle/>
                    <a:p>
                      <a:pPr algn="ctr">
                        <a:buNone/>
                      </a:pPr>
                      <a:r>
                        <a:rPr lang="en-US" altLang="en-US" sz="1600" dirty="0">
                          <a:latin typeface="Times New Roman" panose="02020603050405020304" charset="0"/>
                          <a:cs typeface="Times New Roman" panose="02020603050405020304" charset="0"/>
                        </a:rPr>
                        <a:t>Software Defect Prediction Using an Intelligent Ensemble-Based Model</a:t>
                      </a:r>
                    </a:p>
                  </a:txBody>
                  <a:tcPr/>
                </a:tc>
                <a:tc>
                  <a:txBody>
                    <a:bodyPr/>
                    <a:lstStyle/>
                    <a:p>
                      <a:pPr algn="ctr">
                        <a:buNone/>
                      </a:pPr>
                      <a:r>
                        <a:rPr lang="en-US" altLang="en-US" sz="1600" dirty="0">
                          <a:latin typeface="Times New Roman" panose="02020603050405020304" charset="0"/>
                          <a:cs typeface="Times New Roman" panose="02020603050405020304" charset="0"/>
                        </a:rPr>
                        <a:t>Ensemble learning methods such as RF, SVM, NB, and ANN improve prediction performance compared to single models.</a:t>
                      </a:r>
                    </a:p>
                  </a:txBody>
                  <a:tcPr/>
                </a:tc>
                <a:extLst>
                  <a:ext uri="{0D108BD9-81ED-4DB2-BD59-A6C34878D82A}">
                    <a16:rowId xmlns:a16="http://schemas.microsoft.com/office/drawing/2014/main" val="10002"/>
                  </a:ext>
                </a:extLst>
              </a:tr>
              <a:tr h="822960">
                <a:tc>
                  <a:txBody>
                    <a:bodyPr/>
                    <a:lstStyle/>
                    <a:p>
                      <a:pPr algn="ctr">
                        <a:buNone/>
                      </a:pPr>
                      <a:r>
                        <a:rPr lang="en-US" sz="1600" dirty="0">
                          <a:latin typeface="Times New Roman" panose="02020603050405020304" charset="0"/>
                          <a:cs typeface="Times New Roman" panose="02020603050405020304" charset="0"/>
                        </a:rPr>
                        <a:t>3</a:t>
                      </a:r>
                    </a:p>
                  </a:txBody>
                  <a:tcPr/>
                </a:tc>
                <a:tc>
                  <a:txBody>
                    <a:bodyPr/>
                    <a:lstStyle/>
                    <a:p>
                      <a:pPr algn="ctr">
                        <a:buNone/>
                      </a:pPr>
                      <a:r>
                        <a:rPr lang="en-US" altLang="en-US" sz="1600" dirty="0">
                          <a:latin typeface="Times New Roman" panose="02020603050405020304" charset="0"/>
                          <a:cs typeface="Times New Roman" panose="02020603050405020304" charset="0"/>
                        </a:rPr>
                        <a:t>Siddika et al., IEEE Access 2023</a:t>
                      </a:r>
                    </a:p>
                  </a:txBody>
                  <a:tcPr/>
                </a:tc>
                <a:tc>
                  <a:txBody>
                    <a:bodyPr/>
                    <a:lstStyle/>
                    <a:p>
                      <a:pPr algn="ctr">
                        <a:buNone/>
                      </a:pPr>
                      <a:r>
                        <a:rPr lang="en-US" altLang="en-US" sz="1600" dirty="0">
                          <a:latin typeface="Times New Roman" panose="02020603050405020304" charset="0"/>
                          <a:cs typeface="Times New Roman" panose="02020603050405020304" charset="0"/>
                        </a:rPr>
                        <a:t>Explainable Machine Learning for Software Defect Prediction</a:t>
                      </a:r>
                    </a:p>
                  </a:txBody>
                  <a:tcPr/>
                </a:tc>
                <a:tc>
                  <a:txBody>
                    <a:bodyPr/>
                    <a:lstStyle/>
                    <a:p>
                      <a:pPr algn="ctr">
                        <a:buNone/>
                      </a:pPr>
                      <a:r>
                        <a:rPr lang="en-US" altLang="en-US" sz="1600" dirty="0">
                          <a:latin typeface="Times New Roman" panose="02020603050405020304" charset="0"/>
                          <a:cs typeface="Times New Roman" panose="02020603050405020304" charset="0"/>
                        </a:rPr>
                        <a:t>Implements XAI-based techniques to improve transparency and understanding of prediction results.</a:t>
                      </a:r>
                    </a:p>
                  </a:txBody>
                  <a:tcPr/>
                </a:tc>
                <a:extLst>
                  <a:ext uri="{0D108BD9-81ED-4DB2-BD59-A6C34878D82A}">
                    <a16:rowId xmlns:a16="http://schemas.microsoft.com/office/drawing/2014/main" val="10003"/>
                  </a:ext>
                </a:extLst>
              </a:tr>
              <a:tr h="822960">
                <a:tc>
                  <a:txBody>
                    <a:bodyPr/>
                    <a:lstStyle/>
                    <a:p>
                      <a:pPr algn="ctr">
                        <a:buNone/>
                      </a:pPr>
                      <a:r>
                        <a:rPr lang="en-US" sz="1600" dirty="0">
                          <a:latin typeface="Times New Roman" panose="02020603050405020304" charset="0"/>
                          <a:cs typeface="Times New Roman" panose="02020603050405020304" charset="0"/>
                        </a:rPr>
                        <a:t>4</a:t>
                      </a:r>
                    </a:p>
                  </a:txBody>
                  <a:tcPr/>
                </a:tc>
                <a:tc>
                  <a:txBody>
                    <a:bodyPr/>
                    <a:lstStyle/>
                    <a:p>
                      <a:pPr algn="ctr">
                        <a:buNone/>
                      </a:pPr>
                      <a:r>
                        <a:rPr lang="en-US" altLang="en-US" sz="1600" dirty="0">
                          <a:latin typeface="Times New Roman" panose="02020603050405020304" charset="0"/>
                          <a:cs typeface="Times New Roman" panose="02020603050405020304" charset="0"/>
                        </a:rPr>
                        <a:t>Zhang et al., 2022</a:t>
                      </a:r>
                    </a:p>
                  </a:txBody>
                  <a:tcPr/>
                </a:tc>
                <a:tc>
                  <a:txBody>
                    <a:bodyPr/>
                    <a:lstStyle/>
                    <a:p>
                      <a:pPr algn="ctr">
                        <a:buNone/>
                      </a:pPr>
                      <a:r>
                        <a:rPr lang="en-US" altLang="en-US" sz="1600" dirty="0">
                          <a:latin typeface="Times New Roman" panose="02020603050405020304" charset="0"/>
                          <a:cs typeface="Times New Roman" panose="02020603050405020304" charset="0"/>
                        </a:rPr>
                        <a:t>Deep Learning-Based Software Defect Prediction</a:t>
                      </a:r>
                    </a:p>
                  </a:txBody>
                  <a:tcPr/>
                </a:tc>
                <a:tc>
                  <a:txBody>
                    <a:bodyPr/>
                    <a:lstStyle/>
                    <a:p>
                      <a:pPr algn="ctr">
                        <a:buNone/>
                      </a:pPr>
                      <a:r>
                        <a:rPr lang="en-US" altLang="en-US" sz="1600" dirty="0">
                          <a:latin typeface="Times New Roman" panose="02020603050405020304" charset="0"/>
                          <a:cs typeface="Times New Roman" panose="02020603050405020304" charset="0"/>
                        </a:rPr>
                        <a:t>Deep learning models provide better feature extraction and improve prediction accuracy for complex datasets.</a:t>
                      </a:r>
                    </a:p>
                  </a:txBody>
                  <a:tcPr/>
                </a:tc>
                <a:extLst>
                  <a:ext uri="{0D108BD9-81ED-4DB2-BD59-A6C34878D82A}">
                    <a16:rowId xmlns:a16="http://schemas.microsoft.com/office/drawing/2014/main" val="10004"/>
                  </a:ext>
                </a:extLst>
              </a:tr>
              <a:tr h="731520">
                <a:tc>
                  <a:txBody>
                    <a:bodyPr/>
                    <a:lstStyle/>
                    <a:p>
                      <a:pPr algn="ctr">
                        <a:buNone/>
                      </a:pPr>
                      <a:r>
                        <a:rPr lang="en-US" sz="1600" dirty="0">
                          <a:latin typeface="Times New Roman" panose="02020603050405020304" charset="0"/>
                          <a:cs typeface="Times New Roman" panose="02020603050405020304" charset="0"/>
                        </a:rPr>
                        <a:t>5</a:t>
                      </a:r>
                    </a:p>
                  </a:txBody>
                  <a:tcPr/>
                </a:tc>
                <a:tc>
                  <a:txBody>
                    <a:bodyPr/>
                    <a:lstStyle/>
                    <a:p>
                      <a:pPr algn="ctr">
                        <a:buNone/>
                      </a:pPr>
                      <a:r>
                        <a:rPr lang="en-US" altLang="en-US" sz="1600" dirty="0">
                          <a:latin typeface="Times New Roman" panose="02020603050405020304" charset="0"/>
                          <a:cs typeface="Times New Roman" panose="02020603050405020304" charset="0"/>
                        </a:rPr>
                        <a:t>Kumar et al., 2021</a:t>
                      </a:r>
                    </a:p>
                  </a:txBody>
                  <a:tcPr/>
                </a:tc>
                <a:tc>
                  <a:txBody>
                    <a:bodyPr/>
                    <a:lstStyle/>
                    <a:p>
                      <a:pPr algn="ctr">
                        <a:buNone/>
                      </a:pPr>
                      <a:r>
                        <a:rPr lang="en-US" altLang="en-US" sz="1600" dirty="0">
                          <a:latin typeface="Times New Roman" panose="02020603050405020304" charset="0"/>
                          <a:cs typeface="Times New Roman" panose="02020603050405020304" charset="0"/>
                        </a:rPr>
                        <a:t>Machine Learning for Software Quality Prediction</a:t>
                      </a:r>
                    </a:p>
                  </a:txBody>
                  <a:tcPr/>
                </a:tc>
                <a:tc>
                  <a:txBody>
                    <a:bodyPr/>
                    <a:lstStyle/>
                    <a:p>
                      <a:pPr algn="ctr"/>
                      <a:r>
                        <a:rPr sz="1600">
                          <a:latin typeface="Times New Roman" panose="02020603050405020304" charset="0"/>
                          <a:cs typeface="Times New Roman" panose="02020603050405020304" charset="0"/>
                        </a:rPr>
                        <a:t>Uses ML algorithms like Random Forest, SVM, and Logistic Regression for software quality and defect analysis.</a:t>
                      </a:r>
                    </a:p>
                  </a:txBody>
                  <a:tcPr marL="0" marR="0" marT="0"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740410" y="1529080"/>
            <a:ext cx="1174668" cy="808990"/>
            <a:chOff x="5213" y="2673"/>
            <a:chExt cx="2123" cy="1572"/>
          </a:xfrm>
        </p:grpSpPr>
        <p:sp>
          <p:nvSpPr>
            <p:cNvPr id="5" name="Rectangles 4"/>
            <p:cNvSpPr/>
            <p:nvPr/>
          </p:nvSpPr>
          <p:spPr>
            <a:xfrm>
              <a:off x="5213" y="2673"/>
              <a:ext cx="2123" cy="1572"/>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11" name="Text Box 10"/>
            <p:cNvSpPr txBox="1"/>
            <p:nvPr/>
          </p:nvSpPr>
          <p:spPr>
            <a:xfrm>
              <a:off x="5408" y="3053"/>
              <a:ext cx="1733" cy="986"/>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Start </a:t>
              </a:r>
            </a:p>
          </p:txBody>
        </p:sp>
      </p:grpSp>
      <p:sp>
        <p:nvSpPr>
          <p:cNvPr id="12" name="Rectangles 11"/>
          <p:cNvSpPr/>
          <p:nvPr/>
        </p:nvSpPr>
        <p:spPr>
          <a:xfrm>
            <a:off x="740410" y="2800350"/>
            <a:ext cx="1715135" cy="9772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14" name="Text Box 13"/>
          <p:cNvSpPr txBox="1"/>
          <p:nvPr/>
        </p:nvSpPr>
        <p:spPr>
          <a:xfrm>
            <a:off x="741045" y="3006725"/>
            <a:ext cx="1714500" cy="80073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Software Metrics &amp; Defect Dataset</a:t>
            </a:r>
          </a:p>
          <a:p>
            <a:pPr algn="ctr"/>
            <a:endParaRPr lang="en-US" altLang="en-US" sz="1600">
              <a:latin typeface="Times New Roman" panose="02020603050405020304" charset="0"/>
              <a:cs typeface="Times New Roman" panose="02020603050405020304" charset="0"/>
            </a:endParaRPr>
          </a:p>
        </p:txBody>
      </p:sp>
      <p:sp>
        <p:nvSpPr>
          <p:cNvPr id="15" name="Rectangles 14"/>
          <p:cNvSpPr/>
          <p:nvPr/>
        </p:nvSpPr>
        <p:spPr>
          <a:xfrm>
            <a:off x="740410" y="4290695"/>
            <a:ext cx="1967865" cy="117157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60"/>
          </a:p>
        </p:txBody>
      </p:sp>
      <p:sp>
        <p:nvSpPr>
          <p:cNvPr id="18" name="Text Box 17"/>
          <p:cNvSpPr txBox="1"/>
          <p:nvPr/>
        </p:nvSpPr>
        <p:spPr>
          <a:xfrm>
            <a:off x="761365" y="4290695"/>
            <a:ext cx="1967865" cy="114998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Data Preprocessing</a:t>
            </a:r>
          </a:p>
          <a:p>
            <a:pPr algn="l"/>
            <a:r>
              <a:rPr lang="en-US" altLang="en-US" sz="1600">
                <a:latin typeface="Times New Roman" panose="02020603050405020304" charset="0"/>
                <a:cs typeface="Times New Roman" panose="02020603050405020304" charset="0"/>
              </a:rPr>
              <a:t> </a:t>
            </a:r>
          </a:p>
          <a:p>
            <a:pPr algn="l"/>
            <a:r>
              <a:rPr lang="en-US" altLang="en-US" sz="1600">
                <a:latin typeface="Times New Roman" panose="02020603050405020304" charset="0"/>
                <a:cs typeface="Times New Roman" panose="02020603050405020304" charset="0"/>
              </a:rPr>
              <a:t>• Cleaning</a:t>
            </a:r>
          </a:p>
          <a:p>
            <a:pPr algn="l"/>
            <a:r>
              <a:rPr lang="en-US" altLang="en-US" sz="1600">
                <a:latin typeface="Times New Roman" panose="02020603050405020304" charset="0"/>
                <a:cs typeface="Times New Roman" panose="02020603050405020304" charset="0"/>
              </a:rPr>
              <a:t>• Normalization</a:t>
            </a:r>
          </a:p>
        </p:txBody>
      </p:sp>
      <p:sp>
        <p:nvSpPr>
          <p:cNvPr id="50" name="Text Box 49"/>
          <p:cNvSpPr txBox="1"/>
          <p:nvPr/>
        </p:nvSpPr>
        <p:spPr>
          <a:xfrm>
            <a:off x="3048000" y="1651000"/>
            <a:ext cx="2054225" cy="1219200"/>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Feature Engineering</a:t>
            </a:r>
          </a:p>
          <a:p>
            <a:endParaRPr lang="en-US" altLang="en-US" sz="1600">
              <a:latin typeface="Times New Roman" panose="02020603050405020304" charset="0"/>
              <a:cs typeface="Times New Roman" panose="02020603050405020304" charset="0"/>
            </a:endParaRPr>
          </a:p>
          <a:p>
            <a:pPr algn="l"/>
            <a:r>
              <a:rPr lang="en-US" altLang="en-US" sz="1600">
                <a:latin typeface="Times New Roman" panose="02020603050405020304" charset="0"/>
                <a:cs typeface="Times New Roman" panose="02020603050405020304" charset="0"/>
              </a:rPr>
              <a:t> • Feature Selection</a:t>
            </a:r>
          </a:p>
          <a:p>
            <a:pPr algn="l"/>
            <a:r>
              <a:rPr lang="en-US" altLang="en-US" sz="1600">
                <a:latin typeface="Times New Roman" panose="02020603050405020304" charset="0"/>
                <a:cs typeface="Times New Roman" panose="02020603050405020304" charset="0"/>
              </a:rPr>
              <a:t> • Dimensionality             Reduction</a:t>
            </a:r>
          </a:p>
        </p:txBody>
      </p:sp>
      <p:sp>
        <p:nvSpPr>
          <p:cNvPr id="51" name="Rectangles 50"/>
          <p:cNvSpPr/>
          <p:nvPr/>
        </p:nvSpPr>
        <p:spPr>
          <a:xfrm>
            <a:off x="3027045" y="1727200"/>
            <a:ext cx="1967230" cy="114935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53" name="Text Box 52"/>
          <p:cNvSpPr txBox="1"/>
          <p:nvPr/>
        </p:nvSpPr>
        <p:spPr>
          <a:xfrm>
            <a:off x="3048000" y="3651250"/>
            <a:ext cx="2519680" cy="96202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Autoencoder (Feature Learning)</a:t>
            </a:r>
          </a:p>
          <a:p>
            <a:r>
              <a:rPr lang="en-US" altLang="en-US" sz="1600">
                <a:latin typeface="Times New Roman" panose="02020603050405020304" charset="0"/>
                <a:cs typeface="Times New Roman" panose="02020603050405020304" charset="0"/>
              </a:rPr>
              <a:t> • Extract hidden features</a:t>
            </a:r>
          </a:p>
        </p:txBody>
      </p:sp>
      <p:sp>
        <p:nvSpPr>
          <p:cNvPr id="54" name="Rectangles 53"/>
          <p:cNvSpPr/>
          <p:nvPr/>
        </p:nvSpPr>
        <p:spPr>
          <a:xfrm>
            <a:off x="3020060" y="3665855"/>
            <a:ext cx="2531745" cy="80073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55" name="Text Box 54"/>
          <p:cNvSpPr txBox="1"/>
          <p:nvPr/>
        </p:nvSpPr>
        <p:spPr>
          <a:xfrm>
            <a:off x="5743575" y="1807210"/>
            <a:ext cx="1881505" cy="1128395"/>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MLP Model Training</a:t>
            </a:r>
          </a:p>
          <a:p>
            <a:r>
              <a:rPr lang="en-US" altLang="en-US" sz="1600">
                <a:latin typeface="Times New Roman" panose="02020603050405020304" charset="0"/>
                <a:cs typeface="Times New Roman" panose="02020603050405020304" charset="0"/>
              </a:rPr>
              <a:t> • Train neural network</a:t>
            </a:r>
          </a:p>
        </p:txBody>
      </p:sp>
      <p:sp>
        <p:nvSpPr>
          <p:cNvPr id="56" name="Rectangles 55"/>
          <p:cNvSpPr/>
          <p:nvPr/>
        </p:nvSpPr>
        <p:spPr>
          <a:xfrm>
            <a:off x="5708015" y="1753235"/>
            <a:ext cx="1931035" cy="11855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57" name="Text Box 56"/>
          <p:cNvSpPr txBox="1"/>
          <p:nvPr/>
        </p:nvSpPr>
        <p:spPr>
          <a:xfrm>
            <a:off x="5956935" y="3710305"/>
            <a:ext cx="1675130" cy="918210"/>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Defect Prediction</a:t>
            </a:r>
          </a:p>
          <a:p>
            <a:r>
              <a:rPr lang="en-US" altLang="en-US" sz="1600">
                <a:latin typeface="Times New Roman" panose="02020603050405020304" charset="0"/>
                <a:cs typeface="Times New Roman" panose="02020603050405020304" charset="0"/>
              </a:rPr>
              <a:t> • Predict defect probability</a:t>
            </a:r>
          </a:p>
        </p:txBody>
      </p:sp>
      <p:sp>
        <p:nvSpPr>
          <p:cNvPr id="58" name="Rectangles 57"/>
          <p:cNvSpPr/>
          <p:nvPr/>
        </p:nvSpPr>
        <p:spPr>
          <a:xfrm>
            <a:off x="5960110" y="3616325"/>
            <a:ext cx="1715135" cy="10922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0" name="Rectangles 59"/>
          <p:cNvSpPr/>
          <p:nvPr/>
        </p:nvSpPr>
        <p:spPr>
          <a:xfrm>
            <a:off x="8574405" y="1921510"/>
            <a:ext cx="2444750" cy="64770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1" name="Text Box 60"/>
          <p:cNvSpPr txBox="1"/>
          <p:nvPr/>
        </p:nvSpPr>
        <p:spPr>
          <a:xfrm>
            <a:off x="8611870" y="1931670"/>
            <a:ext cx="2444750" cy="630555"/>
          </a:xfrm>
          <a:prstGeom prst="rect">
            <a:avLst/>
          </a:prstGeom>
          <a:noFill/>
        </p:spPr>
        <p:txBody>
          <a:bodyPr wrap="square" rtlCol="0">
            <a:noAutofit/>
          </a:bodyPr>
          <a:lstStyle/>
          <a:p>
            <a:r>
              <a:rPr lang="en-US" altLang="en-US" sz="1600">
                <a:latin typeface="Times New Roman" panose="02020603050405020304" charset="0"/>
                <a:cs typeface="Times New Roman" panose="02020603050405020304" charset="0"/>
              </a:rPr>
              <a:t>Defect Probability &gt; Threshold?</a:t>
            </a:r>
          </a:p>
        </p:txBody>
      </p:sp>
      <p:sp>
        <p:nvSpPr>
          <p:cNvPr id="62" name="Rectangles 61"/>
          <p:cNvSpPr/>
          <p:nvPr/>
        </p:nvSpPr>
        <p:spPr>
          <a:xfrm>
            <a:off x="8492679" y="3254426"/>
            <a:ext cx="1302608" cy="988026"/>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3" name="Rectangles 62"/>
          <p:cNvSpPr/>
          <p:nvPr/>
        </p:nvSpPr>
        <p:spPr>
          <a:xfrm>
            <a:off x="10387896" y="3279140"/>
            <a:ext cx="1315480" cy="962797"/>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00">
              <a:latin typeface="Times New Roman" panose="02020603050405020304" charset="0"/>
              <a:cs typeface="Times New Roman" panose="02020603050405020304" charset="0"/>
            </a:endParaRPr>
          </a:p>
        </p:txBody>
      </p:sp>
      <p:sp>
        <p:nvSpPr>
          <p:cNvPr id="64" name="Rectangles 63"/>
          <p:cNvSpPr/>
          <p:nvPr/>
        </p:nvSpPr>
        <p:spPr>
          <a:xfrm>
            <a:off x="8492490" y="4805045"/>
            <a:ext cx="3324860" cy="50736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sz="1460"/>
          </a:p>
        </p:txBody>
      </p:sp>
      <p:sp>
        <p:nvSpPr>
          <p:cNvPr id="75" name="Text Box 74"/>
          <p:cNvSpPr txBox="1"/>
          <p:nvPr/>
        </p:nvSpPr>
        <p:spPr>
          <a:xfrm>
            <a:off x="11062970" y="2800350"/>
            <a:ext cx="630555" cy="337185"/>
          </a:xfrm>
          <a:prstGeom prst="rect">
            <a:avLst/>
          </a:prstGeom>
          <a:noFill/>
        </p:spPr>
        <p:txBody>
          <a:bodyPr wrap="square" rtlCol="0">
            <a:spAutoFit/>
          </a:bodyPr>
          <a:lstStyle/>
          <a:p>
            <a:r>
              <a:rPr lang="en-US" sz="1600">
                <a:latin typeface="Times New Roman" panose="02020603050405020304" charset="0"/>
                <a:cs typeface="Times New Roman" panose="02020603050405020304" charset="0"/>
              </a:rPr>
              <a:t>No</a:t>
            </a:r>
          </a:p>
        </p:txBody>
      </p:sp>
      <p:sp>
        <p:nvSpPr>
          <p:cNvPr id="76" name="Text Box 75"/>
          <p:cNvSpPr txBox="1"/>
          <p:nvPr/>
        </p:nvSpPr>
        <p:spPr>
          <a:xfrm>
            <a:off x="8603615" y="2800350"/>
            <a:ext cx="512445" cy="337185"/>
          </a:xfrm>
          <a:prstGeom prst="rect">
            <a:avLst/>
          </a:prstGeom>
          <a:noFill/>
        </p:spPr>
        <p:txBody>
          <a:bodyPr wrap="square" rtlCol="0" anchor="t">
            <a:spAutoFit/>
          </a:bodyPr>
          <a:lstStyle/>
          <a:p>
            <a:r>
              <a:rPr lang="en-US" sz="1600">
                <a:latin typeface="Times New Roman" panose="02020603050405020304" charset="0"/>
                <a:cs typeface="Times New Roman" panose="02020603050405020304" charset="0"/>
                <a:sym typeface="+mn-ea"/>
              </a:rPr>
              <a:t>Yes</a:t>
            </a:r>
          </a:p>
        </p:txBody>
      </p:sp>
      <p:sp>
        <p:nvSpPr>
          <p:cNvPr id="77" name="Text Box 76"/>
          <p:cNvSpPr txBox="1"/>
          <p:nvPr/>
        </p:nvSpPr>
        <p:spPr>
          <a:xfrm>
            <a:off x="8558067" y="3589604"/>
            <a:ext cx="1160505" cy="337185"/>
          </a:xfrm>
          <a:prstGeom prst="rect">
            <a:avLst/>
          </a:prstGeom>
          <a:noFill/>
        </p:spPr>
        <p:txBody>
          <a:bodyPr wrap="square" rtlCol="0">
            <a:spAutoFit/>
          </a:bodyPr>
          <a:lstStyle/>
          <a:p>
            <a:r>
              <a:rPr lang="en-US" altLang="en-US" sz="1600">
                <a:latin typeface="Times New Roman" panose="02020603050405020304" charset="0"/>
                <a:cs typeface="Times New Roman" panose="02020603050405020304" charset="0"/>
              </a:rPr>
              <a:t>High Risk</a:t>
            </a:r>
          </a:p>
        </p:txBody>
      </p:sp>
      <p:sp>
        <p:nvSpPr>
          <p:cNvPr id="78" name="Text Box 77"/>
          <p:cNvSpPr txBox="1"/>
          <p:nvPr/>
        </p:nvSpPr>
        <p:spPr>
          <a:xfrm>
            <a:off x="10387896" y="3433085"/>
            <a:ext cx="1315995" cy="801130"/>
          </a:xfrm>
          <a:prstGeom prst="rect">
            <a:avLst/>
          </a:prstGeom>
          <a:noFill/>
        </p:spPr>
        <p:txBody>
          <a:bodyPr wrap="square" rtlCol="0">
            <a:noAutofit/>
          </a:bodyPr>
          <a:lstStyle/>
          <a:p>
            <a:pPr algn="ctr"/>
            <a:r>
              <a:rPr lang="en-US" altLang="en-US" sz="1600">
                <a:latin typeface="Times New Roman" panose="02020603050405020304" charset="0"/>
                <a:cs typeface="Times New Roman" panose="02020603050405020304" charset="0"/>
              </a:rPr>
              <a:t>Medium / Low Risk</a:t>
            </a:r>
          </a:p>
        </p:txBody>
      </p:sp>
      <p:cxnSp>
        <p:nvCxnSpPr>
          <p:cNvPr id="79" name="Elbow Connector 78"/>
          <p:cNvCxnSpPr>
            <a:stCxn id="62" idx="2"/>
          </p:cNvCxnSpPr>
          <p:nvPr/>
        </p:nvCxnSpPr>
        <p:spPr>
          <a:xfrm rot="5400000" flipV="1">
            <a:off x="9399588" y="3986848"/>
            <a:ext cx="561975" cy="1073150"/>
          </a:xfrm>
          <a:prstGeom prst="bentConnector3">
            <a:avLst>
              <a:gd name="adj1" fmla="val 50000"/>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0" name="Elbow Connector 79"/>
          <p:cNvCxnSpPr>
            <a:stCxn id="78" idx="2"/>
          </p:cNvCxnSpPr>
          <p:nvPr/>
        </p:nvCxnSpPr>
        <p:spPr>
          <a:xfrm rot="5400000">
            <a:off x="10346373" y="4104958"/>
            <a:ext cx="570230" cy="828675"/>
          </a:xfrm>
          <a:prstGeom prst="bentConnector3">
            <a:avLst>
              <a:gd name="adj1" fmla="val 4994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1" name="Text Box 80"/>
          <p:cNvSpPr txBox="1"/>
          <p:nvPr/>
        </p:nvSpPr>
        <p:spPr>
          <a:xfrm>
            <a:off x="8727938" y="4884334"/>
            <a:ext cx="3089189" cy="337185"/>
          </a:xfrm>
          <a:prstGeom prst="rect">
            <a:avLst/>
          </a:prstGeom>
          <a:noFill/>
        </p:spPr>
        <p:txBody>
          <a:bodyPr wrap="square" rtlCol="0">
            <a:spAutoFit/>
          </a:bodyPr>
          <a:lstStyle/>
          <a:p>
            <a:r>
              <a:rPr lang="en-US" altLang="en-US" sz="1600">
                <a:latin typeface="Times New Roman" panose="02020603050405020304" charset="0"/>
                <a:cs typeface="Times New Roman" panose="02020603050405020304" charset="0"/>
              </a:rPr>
              <a:t>Quality Analytics Dashboard</a:t>
            </a:r>
          </a:p>
        </p:txBody>
      </p:sp>
      <p:cxnSp>
        <p:nvCxnSpPr>
          <p:cNvPr id="8" name="Straight Arrow Connector 7"/>
          <p:cNvCxnSpPr/>
          <p:nvPr/>
        </p:nvCxnSpPr>
        <p:spPr>
          <a:xfrm>
            <a:off x="1327785" y="2338070"/>
            <a:ext cx="0" cy="440690"/>
          </a:xfrm>
          <a:prstGeom prst="straightConnector1">
            <a:avLst/>
          </a:prstGeom>
          <a:ln>
            <a:solidFill>
              <a:schemeClr val="tx1"/>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a:stCxn id="14" idx="2"/>
          </p:cNvCxnSpPr>
          <p:nvPr/>
        </p:nvCxnSpPr>
        <p:spPr>
          <a:xfrm>
            <a:off x="1598295" y="3807460"/>
            <a:ext cx="0" cy="48069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 name="Elbow Connector 9"/>
          <p:cNvCxnSpPr>
            <a:stCxn id="18" idx="3"/>
            <a:endCxn id="51" idx="1"/>
          </p:cNvCxnSpPr>
          <p:nvPr/>
        </p:nvCxnSpPr>
        <p:spPr>
          <a:xfrm flipV="1">
            <a:off x="2729230" y="2301875"/>
            <a:ext cx="297815" cy="2564130"/>
          </a:xfrm>
          <a:prstGeom prst="bentConnector3">
            <a:avLst>
              <a:gd name="adj1" fmla="val 50107"/>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Straight Arrow Connector 12"/>
          <p:cNvCxnSpPr>
            <a:stCxn id="51" idx="2"/>
          </p:cNvCxnSpPr>
          <p:nvPr/>
        </p:nvCxnSpPr>
        <p:spPr>
          <a:xfrm>
            <a:off x="4010660" y="2876550"/>
            <a:ext cx="0" cy="77470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 name="Elbow Connector 15"/>
          <p:cNvCxnSpPr>
            <a:stCxn id="54" idx="3"/>
            <a:endCxn id="56" idx="0"/>
          </p:cNvCxnSpPr>
          <p:nvPr/>
        </p:nvCxnSpPr>
        <p:spPr>
          <a:xfrm flipV="1">
            <a:off x="5551805" y="1753235"/>
            <a:ext cx="1122045" cy="2313305"/>
          </a:xfrm>
          <a:prstGeom prst="bentConnector4">
            <a:avLst>
              <a:gd name="adj1" fmla="val 6961"/>
              <a:gd name="adj2" fmla="val 11029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6673850" y="2958465"/>
            <a:ext cx="0" cy="63055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0" name="Elbow Connector 19"/>
          <p:cNvCxnSpPr>
            <a:stCxn id="58" idx="3"/>
            <a:endCxn id="60" idx="0"/>
          </p:cNvCxnSpPr>
          <p:nvPr/>
        </p:nvCxnSpPr>
        <p:spPr>
          <a:xfrm flipV="1">
            <a:off x="7675245" y="1921510"/>
            <a:ext cx="2121535" cy="2240915"/>
          </a:xfrm>
          <a:prstGeom prst="bentConnector4">
            <a:avLst>
              <a:gd name="adj1" fmla="val 21191"/>
              <a:gd name="adj2" fmla="val 110626"/>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 name="Elbow Connector 20"/>
          <p:cNvCxnSpPr>
            <a:stCxn id="61" idx="2"/>
            <a:endCxn id="62" idx="0"/>
          </p:cNvCxnSpPr>
          <p:nvPr/>
        </p:nvCxnSpPr>
        <p:spPr>
          <a:xfrm rot="5400000">
            <a:off x="9143048" y="2563178"/>
            <a:ext cx="692150" cy="690245"/>
          </a:xfrm>
          <a:prstGeom prst="bentConnector3">
            <a:avLst>
              <a:gd name="adj1" fmla="val 4995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3" name="Elbow Connector 22"/>
          <p:cNvCxnSpPr/>
          <p:nvPr/>
        </p:nvCxnSpPr>
        <p:spPr>
          <a:xfrm rot="5400000" flipV="1">
            <a:off x="10081895" y="2314575"/>
            <a:ext cx="716915" cy="1211580"/>
          </a:xfrm>
          <a:prstGeom prst="bentConnector3">
            <a:avLst>
              <a:gd name="adj1" fmla="val 50000"/>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4" name="Text Box 23"/>
          <p:cNvSpPr txBox="1"/>
          <p:nvPr/>
        </p:nvSpPr>
        <p:spPr>
          <a:xfrm>
            <a:off x="3316605" y="412115"/>
            <a:ext cx="5768340" cy="570865"/>
          </a:xfrm>
          <a:prstGeom prst="rect">
            <a:avLst/>
          </a:prstGeom>
          <a:noFill/>
        </p:spPr>
        <p:txBody>
          <a:bodyPr wrap="square" rtlCol="0">
            <a:noAutofit/>
          </a:bodyPr>
          <a:lstStyle/>
          <a:p>
            <a:pPr algn="ctr"/>
            <a:r>
              <a:rPr lang="en-US" sz="2800" b="1">
                <a:latin typeface="Times New Roman" panose="02020603050405020304" charset="0"/>
                <a:cs typeface="Times New Roman" panose="02020603050405020304" charset="0"/>
              </a:rPr>
              <a:t>PROPOSED BLOCK DIAGRAM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9975" y="1023620"/>
            <a:ext cx="10943590" cy="4430395"/>
          </a:xfrm>
        </p:spPr>
        <p:txBody>
          <a:bodyPr>
            <a:normAutofit fontScale="25000"/>
          </a:bodyPr>
          <a:lstStyle/>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Data Collection</a:t>
            </a:r>
          </a:p>
          <a:p>
            <a:pPr algn="l">
              <a:buFont typeface="Arial" panose="020B0704020202020204" pitchFamily="34" charset="0"/>
            </a:pPr>
            <a:r>
              <a:rPr lang="en-US" altLang="en-US" sz="8000">
                <a:latin typeface="Times New Roman" panose="02020603050405020304" charset="0"/>
                <a:cs typeface="Times New Roman" panose="02020603050405020304" charset="0"/>
              </a:rPr>
              <a:t>           Software metrics and defect datasets are collected from repositories and datasets.</a:t>
            </a:r>
          </a:p>
          <a:p>
            <a:pPr algn="l">
              <a:buFont typeface="Arial" panose="020B0704020202020204" pitchFamily="34" charset="0"/>
            </a:pPr>
            <a:r>
              <a:rPr lang="en-US" altLang="en-US" sz="8000">
                <a:latin typeface="Times New Roman" panose="02020603050405020304" charset="0"/>
                <a:cs typeface="Times New Roman" panose="02020603050405020304" charset="0"/>
              </a:rPr>
              <a:t>           Important metrics include complexity, coupling, cohesion, and code size features.</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Data Preprocessing</a:t>
            </a:r>
          </a:p>
          <a:p>
            <a:pPr algn="l"/>
            <a:r>
              <a:rPr lang="en-US" altLang="en-US" sz="8000">
                <a:latin typeface="Times New Roman" panose="02020603050405020304" charset="0"/>
                <a:cs typeface="Times New Roman" panose="02020603050405020304" charset="0"/>
              </a:rPr>
              <a:t>           The collected data is cleaned and normalized before analysis.</a:t>
            </a:r>
          </a:p>
          <a:p>
            <a:pPr algn="l"/>
            <a:r>
              <a:rPr lang="en-US" altLang="en-US" sz="8000">
                <a:latin typeface="Times New Roman" panose="02020603050405020304" charset="0"/>
                <a:cs typeface="Times New Roman" panose="02020603050405020304" charset="0"/>
              </a:rPr>
              <a:t>           This improves data quality and removes inconsistencies or missing values.</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Feature Engineering</a:t>
            </a:r>
          </a:p>
          <a:p>
            <a:pPr algn="l"/>
            <a:r>
              <a:rPr lang="en-US" altLang="en-US" sz="8000">
                <a:latin typeface="Times New Roman" panose="02020603050405020304" charset="0"/>
                <a:cs typeface="Times New Roman" panose="02020603050405020304" charset="0"/>
              </a:rPr>
              <a:t>           Feature selection and dimensionality reduction techniques are applied.</a:t>
            </a:r>
          </a:p>
          <a:p>
            <a:pPr algn="l"/>
            <a:r>
              <a:rPr lang="en-US" altLang="en-US" sz="8000">
                <a:latin typeface="Times New Roman" panose="02020603050405020304" charset="0"/>
                <a:cs typeface="Times New Roman" panose="02020603050405020304" charset="0"/>
              </a:rPr>
              <a:t>           Only the most important features are retained for efficient prediction.</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Autoencoder Feature Learning</a:t>
            </a:r>
          </a:p>
          <a:p>
            <a:pPr algn="l"/>
            <a:r>
              <a:rPr lang="en-US" altLang="en-US" sz="8000">
                <a:latin typeface="Times New Roman" panose="02020603050405020304" charset="0"/>
                <a:cs typeface="Times New Roman" panose="02020603050405020304" charset="0"/>
              </a:rPr>
              <a:t>            Autoencoder extracts hidden and meaningful patterns from the dataset.</a:t>
            </a:r>
          </a:p>
          <a:p>
            <a:pPr algn="l"/>
            <a:r>
              <a:rPr lang="en-US" altLang="en-US" sz="8000">
                <a:latin typeface="Times New Roman" panose="02020603050405020304" charset="0"/>
                <a:cs typeface="Times New Roman" panose="02020603050405020304" charset="0"/>
              </a:rPr>
              <a:t>            This improves learning capability and enhances prediction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74750" y="1260475"/>
            <a:ext cx="10629265" cy="4337050"/>
          </a:xfrm>
        </p:spPr>
        <p:txBody>
          <a:bodyPr>
            <a:noAutofit/>
          </a:bodyPr>
          <a:lstStyle/>
          <a:p>
            <a:pPr marL="342900" indent="-342900" algn="l">
              <a:buFont typeface="Wingdings" panose="05000000000000000000" charset="0"/>
              <a:buChar char=""/>
            </a:pPr>
            <a:r>
              <a:rPr lang="en-US" altLang="en-US" sz="2000" b="1">
                <a:latin typeface="Times New Roman" panose="02020603050405020304" charset="0"/>
                <a:cs typeface="Times New Roman" panose="02020603050405020304" charset="0"/>
              </a:rPr>
              <a:t>MLP Model Training</a:t>
            </a:r>
          </a:p>
          <a:p>
            <a:pPr algn="l"/>
            <a:r>
              <a:rPr lang="en-US" altLang="en-US" sz="2000">
                <a:latin typeface="Times New Roman" panose="02020603050405020304" charset="0"/>
                <a:cs typeface="Times New Roman" panose="02020603050405020304" charset="0"/>
              </a:rPr>
              <a:t>               The processed features are given to the Multi-Layer Perceptron (MLP) model.</a:t>
            </a:r>
          </a:p>
          <a:p>
            <a:pPr algn="l"/>
            <a:r>
              <a:rPr lang="en-US" altLang="en-US" sz="2000">
                <a:latin typeface="Times New Roman" panose="02020603050405020304" charset="0"/>
                <a:cs typeface="Times New Roman" panose="02020603050405020304" charset="0"/>
              </a:rPr>
              <a:t>               The neural network is trained using historical software defect data.</a:t>
            </a:r>
          </a:p>
          <a:p>
            <a:pPr marL="342900" indent="-342900" algn="l">
              <a:buFont typeface="Wingdings" panose="05000000000000000000" charset="0"/>
              <a:buChar char=""/>
            </a:pPr>
            <a:r>
              <a:rPr lang="en-US" altLang="en-US" sz="2000" b="1">
                <a:latin typeface="Times New Roman" panose="02020603050405020304" charset="0"/>
                <a:cs typeface="Times New Roman" panose="02020603050405020304" charset="0"/>
              </a:rPr>
              <a:t>Defect Prediction</a:t>
            </a:r>
          </a:p>
          <a:p>
            <a:pPr algn="l"/>
            <a:r>
              <a:rPr lang="en-US" altLang="en-US" sz="2000">
                <a:latin typeface="Times New Roman" panose="02020603050405020304" charset="0"/>
                <a:cs typeface="Times New Roman" panose="02020603050405020304" charset="0"/>
              </a:rPr>
              <a:t>               The trained model predicts the probability of software defects.</a:t>
            </a:r>
          </a:p>
          <a:p>
            <a:pPr algn="l"/>
            <a:r>
              <a:rPr lang="en-US" altLang="en-US" sz="2000">
                <a:latin typeface="Times New Roman" panose="02020603050405020304" charset="0"/>
                <a:cs typeface="Times New Roman" panose="02020603050405020304" charset="0"/>
              </a:rPr>
              <a:t>               Prediction is based on learned relationships between software metrics and defect patterns.</a:t>
            </a:r>
          </a:p>
          <a:p>
            <a:pPr marL="342900" indent="-342900" algn="l">
              <a:buFont typeface="Wingdings" panose="05000000000000000000" charset="0"/>
              <a:buChar char=""/>
            </a:pPr>
            <a:r>
              <a:rPr lang="en-US" altLang="en-US" sz="2000" b="1">
                <a:latin typeface="Times New Roman" panose="02020603050405020304" charset="0"/>
                <a:cs typeface="Times New Roman" panose="02020603050405020304" charset="0"/>
              </a:rPr>
              <a:t>Threshold Evaluation</a:t>
            </a:r>
          </a:p>
          <a:p>
            <a:pPr algn="l"/>
            <a:r>
              <a:rPr lang="en-US" altLang="en-US" sz="2000">
                <a:latin typeface="Times New Roman" panose="02020603050405020304" charset="0"/>
                <a:cs typeface="Times New Roman" panose="02020603050405020304" charset="0"/>
              </a:rPr>
              <a:t>                Predicted defect probability is compared with a predefined threshold value.</a:t>
            </a:r>
          </a:p>
          <a:p>
            <a:pPr algn="l"/>
            <a:r>
              <a:rPr lang="en-US" altLang="en-US" sz="2000">
                <a:latin typeface="Times New Roman" panose="02020603050405020304" charset="0"/>
                <a:cs typeface="Times New Roman" panose="02020603050405020304" charset="0"/>
              </a:rPr>
              <a:t>                This helps in classifying the software risk level effectively.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23570" y="1220470"/>
            <a:ext cx="11276965" cy="3894455"/>
          </a:xfrm>
        </p:spPr>
        <p:txBody>
          <a:bodyPr>
            <a:normAutofit fontScale="25000"/>
          </a:bodyPr>
          <a:lstStyle/>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High Risk Classification</a:t>
            </a:r>
          </a:p>
          <a:p>
            <a:pPr algn="l"/>
            <a:r>
              <a:rPr lang="en-US" altLang="en-US" sz="8000">
                <a:latin typeface="Times New Roman" panose="02020603050405020304" charset="0"/>
                <a:cs typeface="Times New Roman" panose="02020603050405020304" charset="0"/>
              </a:rPr>
              <a:t>                          If defect probability exceeds the threshold, the module is classified as High Risk.</a:t>
            </a:r>
          </a:p>
          <a:p>
            <a:pPr algn="l"/>
            <a:r>
              <a:rPr lang="en-US" altLang="en-US" sz="8000">
                <a:latin typeface="Times New Roman" panose="02020603050405020304" charset="0"/>
                <a:cs typeface="Times New Roman" panose="02020603050405020304" charset="0"/>
              </a:rPr>
              <a:t>                         These modules require immediate attention and testing.</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Medium / Low Risk Classification</a:t>
            </a:r>
          </a:p>
          <a:p>
            <a:pPr algn="l"/>
            <a:r>
              <a:rPr lang="en-US" altLang="en-US" sz="8000">
                <a:latin typeface="Times New Roman" panose="02020603050405020304" charset="0"/>
                <a:cs typeface="Times New Roman" panose="02020603050405020304" charset="0"/>
              </a:rPr>
              <a:t>                          If the probability is below the threshold, the software is classified as Medium or Low Risk.</a:t>
            </a:r>
          </a:p>
          <a:p>
            <a:pPr algn="l"/>
            <a:r>
              <a:rPr lang="en-US" altLang="en-US" sz="8000">
                <a:latin typeface="Times New Roman" panose="02020603050405020304" charset="0"/>
                <a:cs typeface="Times New Roman" panose="02020603050405020304" charset="0"/>
              </a:rPr>
              <a:t>                          Such modules are considered more stable and manageable.</a:t>
            </a:r>
          </a:p>
          <a:p>
            <a:pPr marL="342900" indent="-342900" algn="l">
              <a:buFont typeface="Wingdings" panose="05000000000000000000" charset="0"/>
              <a:buChar char=""/>
            </a:pPr>
            <a:r>
              <a:rPr lang="en-US" altLang="en-US" sz="8000" b="1">
                <a:latin typeface="Times New Roman" panose="02020603050405020304" charset="0"/>
                <a:cs typeface="Times New Roman" panose="02020603050405020304" charset="0"/>
              </a:rPr>
              <a:t>Quality Analytics Dashboard</a:t>
            </a:r>
          </a:p>
          <a:p>
            <a:pPr algn="l"/>
            <a:r>
              <a:rPr lang="en-US" altLang="en-US" sz="8000">
                <a:latin typeface="Times New Roman" panose="02020603050405020304" charset="0"/>
                <a:cs typeface="Times New Roman" panose="02020603050405020304" charset="0"/>
              </a:rPr>
              <a:t>                          Final prediction results are displayed in the analytics dashboard.</a:t>
            </a:r>
          </a:p>
          <a:p>
            <a:pPr algn="l"/>
            <a:r>
              <a:rPr lang="en-US" altLang="en-US" sz="8000">
                <a:latin typeface="Times New Roman" panose="02020603050405020304" charset="0"/>
                <a:cs typeface="Times New Roman" panose="02020603050405020304" charset="0"/>
              </a:rPr>
              <a:t>                          The dashboard helps developers analyze software quality and make better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17930"/>
            <a:ext cx="4638040" cy="516890"/>
          </a:xfrm>
        </p:spPr>
        <p:txBody>
          <a:bodyPr>
            <a:normAutofit/>
          </a:bodyPr>
          <a:lstStyle/>
          <a:p>
            <a:r>
              <a:rPr lang="en-US" sz="2400" b="1" dirty="0">
                <a:latin typeface="Times New Roman" panose="02020603050405020304" charset="0"/>
                <a:cs typeface="Times New Roman" panose="02020603050405020304" charset="0"/>
              </a:rPr>
              <a:t>HARDWARE REQUIREMENTS</a:t>
            </a:r>
          </a:p>
        </p:txBody>
      </p:sp>
      <p:sp>
        <p:nvSpPr>
          <p:cNvPr id="3" name="Subtitle 2"/>
          <p:cNvSpPr>
            <a:spLocks noGrp="1"/>
          </p:cNvSpPr>
          <p:nvPr>
            <p:ph type="subTitle" idx="1"/>
          </p:nvPr>
        </p:nvSpPr>
        <p:spPr>
          <a:xfrm>
            <a:off x="1524000" y="2315845"/>
            <a:ext cx="4964430" cy="2783205"/>
          </a:xfrm>
        </p:spPr>
        <p:txBody>
          <a:bodyPr>
            <a:normAutofit/>
          </a:bodyPr>
          <a:lstStyle/>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Processor: Intel iCore i3 (5th Gen)</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RAM: 8 GB</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Storage: 500 GB Hard Disk</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GPU: NVIDIA GeForce GTX 1650</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Input Devices: Keyboard, Mouse</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Output Device: 14-inch Monitor</a:t>
            </a:r>
            <a:endParaRPr lang="en-US" altLang="en-US" sz="2000" dirty="0">
              <a:latin typeface="Times New Roman" panose="02020603050405020304" charset="0"/>
              <a:cs typeface="Times New Roman" panose="02020603050405020304" charset="0"/>
              <a:sym typeface="+mn-ea"/>
            </a:endParaRPr>
          </a:p>
          <a:p>
            <a:pPr marL="342900" indent="-342900" algn="just">
              <a:buFont typeface="Wingdings" panose="05000000000000000000" charset="0"/>
              <a:buChar char=""/>
            </a:pPr>
            <a:endParaRPr lang="en-US" sz="2000" dirty="0"/>
          </a:p>
        </p:txBody>
      </p:sp>
      <p:sp>
        <p:nvSpPr>
          <p:cNvPr id="5" name="Text Box 4"/>
          <p:cNvSpPr txBox="1"/>
          <p:nvPr/>
        </p:nvSpPr>
        <p:spPr>
          <a:xfrm>
            <a:off x="6828155" y="2315845"/>
            <a:ext cx="4964430" cy="2225675"/>
          </a:xfrm>
          <a:prstGeom prst="rect">
            <a:avLst/>
          </a:prstGeom>
          <a:noFill/>
        </p:spPr>
        <p:txBody>
          <a:bodyPr wrap="square" rtlCol="0">
            <a:noAutofit/>
          </a:bodyPr>
          <a:lstStyle/>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Operating System: Windows 10</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Frontend: HTML, CSS, JavaScript</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Backend: Python</a:t>
            </a:r>
            <a:endParaRPr lang="en-US" altLang="en-US" sz="2000">
              <a:latin typeface="Times New Roman" panose="02020603050405020304" charset="0"/>
              <a:cs typeface="Times New Roman" panose="02020603050405020304" charset="0"/>
            </a:endParaRP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Framework: Flask</a:t>
            </a:r>
          </a:p>
          <a:p>
            <a:pPr marL="342900" indent="-342900" algn="just">
              <a:buFont typeface="Wingdings" panose="05000000000000000000" charset="0"/>
              <a:buChar char=""/>
            </a:pPr>
            <a:r>
              <a:rPr lang="en-US" altLang="en-US" sz="2000">
                <a:latin typeface="Times New Roman" panose="02020603050405020304" charset="0"/>
                <a:cs typeface="Times New Roman" panose="02020603050405020304" charset="0"/>
                <a:sym typeface="+mn-ea"/>
              </a:rPr>
              <a:t>Tools: Python IDLE</a:t>
            </a:r>
            <a:endParaRPr lang="en-US" sz="2000" dirty="0"/>
          </a:p>
          <a:p>
            <a:pPr marL="342900" indent="-342900" algn="just">
              <a:buFont typeface="Wingdings" panose="05000000000000000000" charset="0"/>
              <a:buChar char=""/>
            </a:pPr>
            <a:endParaRPr lang="en-US" sz="2000"/>
          </a:p>
        </p:txBody>
      </p:sp>
      <p:sp>
        <p:nvSpPr>
          <p:cNvPr id="6" name="Text Box 5"/>
          <p:cNvSpPr txBox="1"/>
          <p:nvPr/>
        </p:nvSpPr>
        <p:spPr>
          <a:xfrm>
            <a:off x="6828155" y="1274445"/>
            <a:ext cx="6096000" cy="460375"/>
          </a:xfrm>
          <a:prstGeom prst="rect">
            <a:avLst/>
          </a:prstGeom>
          <a:noFill/>
        </p:spPr>
        <p:txBody>
          <a:bodyPr wrap="square" rtlCol="0" anchor="t">
            <a:spAutoFit/>
          </a:bodyPr>
          <a:lstStyle/>
          <a:p>
            <a:r>
              <a:rPr lang="en-US" sz="2400" b="1" dirty="0">
                <a:latin typeface="Times New Roman" panose="02020603050405020304" charset="0"/>
                <a:cs typeface="Times New Roman" panose="02020603050405020304" charset="0"/>
                <a:sym typeface="+mn-ea"/>
              </a:rPr>
              <a:t>SOFTWARE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9470" y="1631950"/>
            <a:ext cx="10800715" cy="3401695"/>
          </a:xfrm>
        </p:spPr>
        <p:txBody>
          <a:bodyPr>
            <a:normAutofit fontScale="35000"/>
          </a:bodyPr>
          <a:lstStyle/>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Data collection of software metrics such as CBO, LOC, WMC, RFC, LCOM, DIT, NOC</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Data preprocessing (cleaning, normalization, handling missing values)</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Feature selection to identify important metrics for prediction</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Model training using Random Forest (ensemble of decision trees)</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Random sampling of data and features for each tree</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Model evaluation using accuracy and performance metrics</a:t>
            </a:r>
            <a:endParaRPr lang="en-US" altLang="en-US" sz="6400" b="0" i="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6400">
                <a:latin typeface="Times New Roman" panose="02020603050405020304" charset="0"/>
                <a:cs typeface="Times New Roman" panose="02020603050405020304" charset="0"/>
                <a:sym typeface="+mn-ea"/>
              </a:rPr>
              <a:t>Risk prediction (Low, Medium, High) using majority voting and visualization</a:t>
            </a:r>
            <a:endParaRPr lang="en-US" sz="6400" dirty="0">
              <a:solidFill>
                <a:srgbClr val="FF0000"/>
              </a:solidFill>
              <a:latin typeface="Times New Roman" panose="02020603050405020304" charset="0"/>
              <a:cs typeface="Times New Roman" panose="02020603050405020304" charset="0"/>
            </a:endParaRPr>
          </a:p>
        </p:txBody>
      </p:sp>
      <p:sp>
        <p:nvSpPr>
          <p:cNvPr id="2" name="Text Box 1"/>
          <p:cNvSpPr txBox="1"/>
          <p:nvPr/>
        </p:nvSpPr>
        <p:spPr>
          <a:xfrm>
            <a:off x="4387215" y="564515"/>
            <a:ext cx="3889375" cy="516255"/>
          </a:xfrm>
          <a:prstGeom prst="rect">
            <a:avLst/>
          </a:prstGeom>
          <a:noFill/>
        </p:spPr>
        <p:txBody>
          <a:bodyPr wrap="square" rtlCol="0">
            <a:noAutofit/>
          </a:bodyPr>
          <a:lstStyle/>
          <a:p>
            <a:pPr marL="0" lvl="7"/>
            <a:r>
              <a:rPr lang="en-US" sz="2400" b="1" dirty="0">
                <a:latin typeface="Times New Roman" panose="02020603050405020304" charset="0"/>
                <a:cs typeface="Times New Roman" panose="02020603050405020304" charset="0"/>
                <a:sym typeface="+mn-ea"/>
              </a:rPr>
              <a:t>METHODOLOGY USED</a:t>
            </a:r>
            <a:endParaRPr lang="en-US" sz="2400" b="1" dirty="0">
              <a:latin typeface="Times New Roman" panose="02020603050405020304" charset="0"/>
              <a:cs typeface="Times New Roman" panose="02020603050405020304" charset="0"/>
            </a:endParaRPr>
          </a:p>
          <a:p>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03580"/>
            <a:ext cx="9144000" cy="527050"/>
          </a:xfrm>
        </p:spPr>
        <p:txBody>
          <a:bodyPr>
            <a:normAutofit/>
          </a:bodyPr>
          <a:lstStyle/>
          <a:p>
            <a:r>
              <a:rPr lang="en-US" sz="2665" b="1" dirty="0">
                <a:latin typeface="Times New Roman" panose="02020603050405020304" charset="0"/>
                <a:cs typeface="Times New Roman" panose="02020603050405020304" charset="0"/>
              </a:rPr>
              <a:t>RESULTS </a:t>
            </a:r>
          </a:p>
        </p:txBody>
      </p:sp>
      <p:pic>
        <p:nvPicPr>
          <p:cNvPr id="88" name="Picture 88"/>
          <p:cNvPicPr>
            <a:picLocks noChangeAspect="1"/>
          </p:cNvPicPr>
          <p:nvPr/>
        </p:nvPicPr>
        <p:blipFill>
          <a:blip r:embed="rId2"/>
          <a:stretch>
            <a:fillRect/>
          </a:stretch>
        </p:blipFill>
        <p:spPr>
          <a:xfrm>
            <a:off x="1743075" y="1462405"/>
            <a:ext cx="8706485" cy="48037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68395" y="626745"/>
            <a:ext cx="5387340" cy="527050"/>
          </a:xfrm>
        </p:spPr>
        <p:txBody>
          <a:bodyPr>
            <a:normAutofit/>
          </a:bodyPr>
          <a:lstStyle/>
          <a:p>
            <a:r>
              <a:rPr lang="en-US" sz="2665" b="1" dirty="0">
                <a:latin typeface="Times New Roman" panose="02020603050405020304" charset="0"/>
                <a:cs typeface="Times New Roman" panose="02020603050405020304" charset="0"/>
              </a:rPr>
              <a:t>ACCURACY LEVEL</a:t>
            </a:r>
          </a:p>
        </p:txBody>
      </p:sp>
      <p:pic>
        <p:nvPicPr>
          <p:cNvPr id="82" name="Picture 82"/>
          <p:cNvPicPr>
            <a:picLocks noChangeAspect="1" noChangeArrowheads="1"/>
          </p:cNvPicPr>
          <p:nvPr/>
        </p:nvPicPr>
        <p:blipFill>
          <a:blip r:embed="rId2">
            <a:extLst>
              <a:ext uri="{28A0092B-C50C-407E-A947-70E740481C1C}">
                <a14:useLocalDpi xmlns:a14="http://schemas.microsoft.com/office/drawing/2010/main" val="0"/>
              </a:ext>
            </a:extLst>
          </a:blip>
          <a:srcRect t="7282"/>
          <a:stretch>
            <a:fillRect/>
          </a:stretch>
        </p:blipFill>
        <p:spPr>
          <a:xfrm>
            <a:off x="2049145" y="1356360"/>
            <a:ext cx="8094345" cy="498030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96595"/>
            <a:ext cx="9144000" cy="527050"/>
          </a:xfrm>
        </p:spPr>
        <p:txBody>
          <a:bodyPr>
            <a:normAutofit/>
          </a:bodyPr>
          <a:lstStyle/>
          <a:p>
            <a:r>
              <a:rPr lang="en-US" sz="2665" b="1" dirty="0">
                <a:latin typeface="Times New Roman" panose="02020603050405020304" charset="0"/>
                <a:cs typeface="Times New Roman" panose="02020603050405020304" charset="0"/>
              </a:rPr>
              <a:t>CONFUSION MATRIX / FEATURE IMPORTANCE</a:t>
            </a:r>
          </a:p>
        </p:txBody>
      </p:sp>
      <p:pic>
        <p:nvPicPr>
          <p:cNvPr id="83" name="Picture 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20420" y="1797685"/>
            <a:ext cx="5594350" cy="3917315"/>
          </a:xfrm>
          <a:prstGeom prst="rect">
            <a:avLst/>
          </a:prstGeom>
          <a:noFill/>
          <a:ln>
            <a:noFill/>
          </a:ln>
        </p:spPr>
      </p:pic>
      <p:pic>
        <p:nvPicPr>
          <p:cNvPr id="84" name="Picture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724650" y="1797685"/>
            <a:ext cx="5194935" cy="3686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66115"/>
            <a:ext cx="9144000" cy="527050"/>
          </a:xfrm>
        </p:spPr>
        <p:txBody>
          <a:bodyPr>
            <a:normAutofit/>
          </a:bodyPr>
          <a:lstStyle/>
          <a:p>
            <a:r>
              <a:rPr lang="en-US" sz="2665" b="1" dirty="0">
                <a:latin typeface="Times New Roman" panose="02020603050405020304" charset="0"/>
                <a:cs typeface="Times New Roman" panose="02020603050405020304" charset="0"/>
              </a:rPr>
              <a:t> CONCLUSION</a:t>
            </a:r>
          </a:p>
        </p:txBody>
      </p:sp>
      <p:sp>
        <p:nvSpPr>
          <p:cNvPr id="5" name="Text Box 4"/>
          <p:cNvSpPr txBox="1"/>
          <p:nvPr/>
        </p:nvSpPr>
        <p:spPr>
          <a:xfrm>
            <a:off x="1820545" y="1819275"/>
            <a:ext cx="9143365" cy="3578225"/>
          </a:xfrm>
          <a:prstGeom prst="rect">
            <a:avLst/>
          </a:prstGeom>
          <a:noFill/>
        </p:spPr>
        <p:txBody>
          <a:bodyPr wrap="square" rtlCol="0">
            <a:noAutofit/>
          </a:bodyPr>
          <a:lstStyle/>
          <a:p>
            <a:r>
              <a:rPr lang="en-US" altLang="en-US" sz="2000">
                <a:latin typeface="Times New Roman" panose="02020603050405020304" charset="0"/>
                <a:cs typeface="Times New Roman" panose="02020603050405020304" charset="0"/>
                <a:sym typeface="+mn-ea"/>
              </a:rPr>
              <a:t>This project develops a machine learning-based system to analyze software metrics and predict risk levels. It identifies defect-prone modules and classifies them into low, medium, and high risk using the Random Forest algorithm.</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sym typeface="+mn-ea"/>
              </a:rPr>
              <a:t>The system enables early detection of risks, improving software quality and reducing maintenance effort. The web-based interface provides easy access to predictions, supporting better testing and decision making.</a:t>
            </a:r>
            <a:endParaRPr lang="en-US" altLang="en-US" sz="2000">
              <a:latin typeface="Times New Roman" panose="02020603050405020304" charset="0"/>
              <a:cs typeface="Times New Roman" panose="02020603050405020304" charset="0"/>
            </a:endParaRPr>
          </a:p>
          <a:p>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0365" y="710565"/>
            <a:ext cx="9144000" cy="746125"/>
          </a:xfrm>
        </p:spPr>
        <p:txBody>
          <a:bodyPr/>
          <a:lstStyle/>
          <a:p>
            <a:r>
              <a:rPr lang="en-US" sz="2400" b="1" dirty="0">
                <a:latin typeface="Times New Roman" panose="02020603050405020304" charset="0"/>
                <a:cs typeface="Times New Roman" panose="02020603050405020304" charset="0"/>
              </a:rPr>
              <a:t>FUTURE ENHANCEMENT</a:t>
            </a:r>
          </a:p>
        </p:txBody>
      </p:sp>
      <p:sp>
        <p:nvSpPr>
          <p:cNvPr id="3" name="Subtitle 2"/>
          <p:cNvSpPr>
            <a:spLocks noGrp="1"/>
          </p:cNvSpPr>
          <p:nvPr>
            <p:ph type="subTitle" idx="1"/>
          </p:nvPr>
        </p:nvSpPr>
        <p:spPr>
          <a:xfrm>
            <a:off x="1356360" y="1944370"/>
            <a:ext cx="9563735" cy="3744595"/>
          </a:xfrm>
        </p:spPr>
        <p:txBody>
          <a:bodyPr>
            <a:noAutofit/>
          </a:bodyPr>
          <a:lstStyle/>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Integrate advanced algorithms like XGBoost or deep learning to improve prediction accuracy. This will enhance model performance for complex datasets.</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Use real-time data from sources like GitHub and CI/CD pipelines. This enables continuous monitoring and up-to-date risk prediction.</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Deploy the system on cloud platforms for better scalability and accessibility. This allows users to access the system from anywhere.</a:t>
            </a: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endParaRPr lang="en-US" altLang="en-US" sz="2000">
              <a:latin typeface="Times New Roman" panose="02020603050405020304" charset="0"/>
              <a:cs typeface="Times New Roman" panose="02020603050405020304" charset="0"/>
            </a:endParaRPr>
          </a:p>
          <a:p>
            <a:pPr marL="342900" indent="-342900" algn="l">
              <a:buFont typeface="Wingdings" panose="05000000000000000000" charset="0"/>
              <a:buChar char=""/>
            </a:pPr>
            <a:r>
              <a:rPr lang="en-US" altLang="en-US" sz="2000">
                <a:latin typeface="Times New Roman" panose="02020603050405020304" charset="0"/>
                <a:cs typeface="Times New Roman" panose="02020603050405020304" charset="0"/>
                <a:sym typeface="+mn-ea"/>
              </a:rPr>
              <a:t>Improve user interface and add advanced dashboards for better visualization. This enhances user experience and supports better decision making.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09845" y="455295"/>
            <a:ext cx="2644775" cy="597535"/>
          </a:xfrm>
        </p:spPr>
        <p:txBody>
          <a:bodyPr>
            <a:normAutofit/>
          </a:bodyPr>
          <a:lstStyle/>
          <a:p>
            <a:pPr algn="r"/>
            <a:r>
              <a:rPr lang="en-US" sz="3110" b="1" dirty="0">
                <a:latin typeface="Times New Roman" panose="02020603050405020304" charset="0"/>
                <a:cs typeface="Times New Roman" panose="02020603050405020304" charset="0"/>
              </a:rPr>
              <a:t>OUTCOMES  </a:t>
            </a:r>
          </a:p>
          <a:p>
            <a:pPr algn="r"/>
            <a:endParaRPr lang="en-US" sz="3110" b="1" dirty="0">
              <a:solidFill>
                <a:srgbClr val="FF0000"/>
              </a:solidFill>
              <a:latin typeface="Times New Roman" panose="02020603050405020304" charset="0"/>
              <a:cs typeface="Times New Roman" panose="02020603050405020304" charset="0"/>
            </a:endParaRPr>
          </a:p>
        </p:txBody>
      </p:sp>
      <p:sp>
        <p:nvSpPr>
          <p:cNvPr id="2" name="Text Box 1"/>
          <p:cNvSpPr txBox="1"/>
          <p:nvPr/>
        </p:nvSpPr>
        <p:spPr>
          <a:xfrm>
            <a:off x="9073515" y="2790190"/>
            <a:ext cx="4064000" cy="914400"/>
          </a:xfrm>
          <a:prstGeom prst="rect">
            <a:avLst/>
          </a:prstGeom>
          <a:noFill/>
        </p:spPr>
        <p:txBody>
          <a:bodyPr wrap="square" rtlCol="0">
            <a:noAutofit/>
          </a:bodyPr>
          <a:lstStyle/>
          <a:p>
            <a:endParaRPr lang="en-US"/>
          </a:p>
        </p:txBody>
      </p:sp>
      <p:pic>
        <p:nvPicPr>
          <p:cNvPr id="5" name="Picture 4" descr="Screenshot 2026-04-21 at 2.07.06 PM"/>
          <p:cNvPicPr>
            <a:picLocks noChangeAspect="1"/>
          </p:cNvPicPr>
          <p:nvPr/>
        </p:nvPicPr>
        <p:blipFill>
          <a:blip r:embed="rId2"/>
          <a:stretch>
            <a:fillRect/>
          </a:stretch>
        </p:blipFill>
        <p:spPr>
          <a:xfrm>
            <a:off x="1691005" y="1053465"/>
            <a:ext cx="9608185" cy="5664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76165" y="403860"/>
            <a:ext cx="2752090" cy="558165"/>
          </a:xfrm>
        </p:spPr>
        <p:txBody>
          <a:bodyPr>
            <a:normAutofit fontScale="90000"/>
          </a:bodyPr>
          <a:lstStyle/>
          <a:p>
            <a:r>
              <a:rPr lang="en-US" sz="3110" b="1" dirty="0">
                <a:latin typeface="Times New Roman" panose="02020603050405020304" charset="0"/>
                <a:cs typeface="Times New Roman" panose="02020603050405020304" charset="0"/>
              </a:rPr>
              <a:t>REFERENCES</a:t>
            </a:r>
            <a:r>
              <a:rPr lang="en-US" sz="3110" b="1" dirty="0"/>
              <a:t> </a:t>
            </a:r>
          </a:p>
        </p:txBody>
      </p:sp>
      <p:sp>
        <p:nvSpPr>
          <p:cNvPr id="3" name="Subtitle 2"/>
          <p:cNvSpPr>
            <a:spLocks noGrp="1"/>
          </p:cNvSpPr>
          <p:nvPr>
            <p:ph type="subTitle" idx="1"/>
          </p:nvPr>
        </p:nvSpPr>
        <p:spPr>
          <a:xfrm>
            <a:off x="718820" y="1282065"/>
            <a:ext cx="11473180" cy="3284855"/>
          </a:xfrm>
        </p:spPr>
        <p:txBody>
          <a:bodyPr>
            <a:normAutofit fontScale="25000"/>
          </a:bodyPr>
          <a:lstStyle/>
          <a:p>
            <a:pPr algn="l"/>
            <a:r>
              <a:rPr lang="en-US" altLang="en-US" sz="8000">
                <a:latin typeface="Times New Roman" panose="02020603050405020304" charset="0"/>
                <a:cs typeface="Times New Roman" panose="02020603050405020304" charset="0"/>
                <a:sym typeface="+mn-ea"/>
              </a:rPr>
              <a:t>[1] “XAI Driven Software Defect Prediction Using Adaptive Feature Engineering Coupled With Autoencoder and MLP,” IEEE Access, 2025.</a:t>
            </a:r>
          </a:p>
          <a:p>
            <a:pPr algn="l"/>
            <a:r>
              <a:rPr lang="en-US" altLang="en-US" sz="8000">
                <a:latin typeface="Times New Roman" panose="02020603050405020304" charset="0"/>
                <a:cs typeface="Times New Roman" panose="02020603050405020304" charset="0"/>
                <a:sym typeface="+mn-ea"/>
              </a:rPr>
              <a:t>[2] M. Ali, T. Mazhar, Y. Arif, S. Al-Otaibi, Y. Y. Ghadi, T. Shahzad, M. A. Khan, and H. Hamam,</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“Software Defect Prediction Using an Intelligent Ensemble-Based Model,” IEEE Access, vol. 12, pp. 20376–20395, 2024.</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[3] T. Menzies, A. Butcher, A. Marcus, T. Zimmermann, and D. Cok,</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“Local versus global models for effort estimation and defect prediction,” IEEE Transactions on Software Engineering, 2011.</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[4] G. Boetticher, T. Menzies, and T. Ostrand,</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“PROMISE Repository of Software Engineering Databases,” West Virginia University, 2007.</a:t>
            </a:r>
            <a:endParaRPr lang="en-US" altLang="en-US" sz="8000" b="0">
              <a:latin typeface="Times New Roman" panose="02020603050405020304" charset="0"/>
              <a:cs typeface="Times New Roman" panose="02020603050405020304" charset="0"/>
              <a:sym typeface="+mn-ea"/>
            </a:endParaRPr>
          </a:p>
          <a:p>
            <a:pPr algn="l"/>
            <a:r>
              <a:rPr lang="en-US" altLang="en-US" sz="8000">
                <a:latin typeface="Times New Roman" panose="02020603050405020304" charset="0"/>
                <a:cs typeface="Times New Roman" panose="02020603050405020304" charset="0"/>
                <a:sym typeface="+mn-ea"/>
              </a:rPr>
              <a:t>[5] NASA Metrics Data Program (MDP),</a:t>
            </a:r>
            <a:endParaRPr lang="en-US" altLang="en-US" sz="8000" b="0">
              <a:latin typeface="Times New Roman" panose="02020603050405020304" charset="0"/>
              <a:cs typeface="Times New Roman" panose="02020603050405020304" charset="0"/>
            </a:endParaRPr>
          </a:p>
          <a:p>
            <a:pPr algn="l"/>
            <a:r>
              <a:rPr lang="en-US" altLang="en-US" sz="8000">
                <a:latin typeface="Times New Roman" panose="02020603050405020304" charset="0"/>
                <a:cs typeface="Times New Roman" panose="02020603050405020304" charset="0"/>
                <a:sym typeface="+mn-ea"/>
              </a:rPr>
              <a:t>“NASA Software Defect Datasets,” NASA, USA.</a:t>
            </a:r>
            <a:endParaRPr lang="en-US" sz="8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01340" y="2226310"/>
            <a:ext cx="6432550" cy="1473200"/>
          </a:xfrm>
          <a:prstGeom prst="rect">
            <a:avLst/>
          </a:prstGeom>
          <a:noFill/>
        </p:spPr>
        <p:txBody>
          <a:bodyPr wrap="square" rtlCol="0" anchor="t">
            <a:noAutofit/>
          </a:bodyPr>
          <a:lstStyle/>
          <a:p>
            <a:pPr algn="ctr"/>
            <a:r>
              <a:rPr lang="en-US" sz="6000" dirty="0">
                <a:ln w="22225">
                  <a:solidFill>
                    <a:schemeClr val="accent2"/>
                  </a:solidFill>
                  <a:prstDash val="solid"/>
                </a:ln>
                <a:solidFill>
                  <a:schemeClr val="accent2">
                    <a:lumMod val="40000"/>
                    <a:lumOff val="60000"/>
                  </a:schemeClr>
                </a:solidFill>
                <a:effectLst/>
                <a:latin typeface="Times New Roman" panose="02020603050405020304" charset="0"/>
                <a:cs typeface="Times New Roman" panose="02020603050405020304" charset="0"/>
                <a:sym typeface="+mn-ea"/>
              </a:rPr>
              <a:t>THANK YOU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54*91"/>
  <p:tag name="TABLE_ENDDRAG_RECT" val="111*365*654*9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lang="en-US"/>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1259</Words>
  <Application>Microsoft Office PowerPoint</Application>
  <PresentationFormat>Widescreen</PresentationFormat>
  <Paragraphs>153</Paragraphs>
  <Slides>18</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Arial</vt:lpstr>
      <vt:lpstr>Calibri</vt:lpstr>
      <vt:lpstr>Calibri Light</vt:lpstr>
      <vt:lpstr>Times New Roman</vt:lpstr>
      <vt:lpstr>Wingdings</vt:lpstr>
      <vt:lpstr>Office Theme</vt:lpstr>
      <vt:lpstr>Paintbrush Picture</vt:lpstr>
      <vt:lpstr>DEPARTMENT OF COMPUTER SCIENCE PROJECT FINAL REVIEW  SOFTWARE QUALITY ANALYTICS AND RISK ASSESSMENT USING CLOUD-BASED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HARDWARE REQUIREMENTS</vt:lpstr>
      <vt:lpstr>PowerPoint Presentation</vt:lpstr>
      <vt:lpstr>RESULTS </vt:lpstr>
      <vt:lpstr>ACCURACY LEVEL</vt:lpstr>
      <vt:lpstr>CONFUSION MATRIX / FEATURE IMPORTANCE</vt:lpstr>
      <vt:lpstr> CONCLUSION</vt:lpstr>
      <vt:lpstr>FUTURE ENHANCEMENT</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user1</dc:creator>
  <cp:lastModifiedBy>S0392711</cp:lastModifiedBy>
  <cp:revision>81</cp:revision>
  <dcterms:created xsi:type="dcterms:W3CDTF">2026-04-28T19:46:29Z</dcterms:created>
  <dcterms:modified xsi:type="dcterms:W3CDTF">2026-04-29T05:39:37Z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49AFE499255A4026950EF169D77AC9E3_43</vt:lpwstr>
  </property>
  <property fmtid="{D5CDD505-2E9C-101B-9397-08002B2CF9AE}" pid="3" name="KSOProductBuildVer">
    <vt:lpwstr>1033-12.1.25880.25880</vt:lpwstr>
  </property>
</Properties>
</file>