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8458200"/>
  <p:notesSz cx="11430000" cy="8458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55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622042"/>
            <a:ext cx="9715500" cy="177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4736592"/>
            <a:ext cx="8001000" cy="2114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945386"/>
            <a:ext cx="4972050" cy="5582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945386"/>
            <a:ext cx="4972050" cy="5582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8458200"/>
          </a:xfrm>
          <a:custGeom>
            <a:avLst/>
            <a:gdLst/>
            <a:ahLst/>
            <a:cxnLst/>
            <a:rect l="l" t="t" r="r" b="b"/>
            <a:pathLst>
              <a:path w="11430000" h="8458200">
                <a:moveTo>
                  <a:pt x="11430000" y="8458200"/>
                </a:moveTo>
                <a:lnTo>
                  <a:pt x="0" y="84582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84582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00" y="173990"/>
            <a:ext cx="9287509" cy="9810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9789" y="1784350"/>
            <a:ext cx="9977120" cy="5864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7866126"/>
            <a:ext cx="3657600" cy="422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7866126"/>
            <a:ext cx="2628900" cy="422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7866126"/>
            <a:ext cx="2628900" cy="422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4170" y="4688382"/>
            <a:ext cx="10705465" cy="0"/>
          </a:xfrm>
          <a:custGeom>
            <a:avLst/>
            <a:gdLst/>
            <a:ahLst/>
            <a:cxnLst/>
            <a:rect l="l" t="t" r="r" b="b"/>
            <a:pathLst>
              <a:path w="10705465">
                <a:moveTo>
                  <a:pt x="0" y="0"/>
                </a:moveTo>
                <a:lnTo>
                  <a:pt x="10704916" y="0"/>
                </a:lnTo>
              </a:path>
            </a:pathLst>
          </a:custGeom>
          <a:ln w="39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97939" y="5237695"/>
            <a:ext cx="3990340" cy="220408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800" b="1" spc="-125" dirty="0">
                <a:latin typeface="Tahoma"/>
                <a:cs typeface="Tahoma"/>
              </a:rPr>
              <a:t>PRESENTED</a:t>
            </a:r>
            <a:r>
              <a:rPr sz="1800" b="1" spc="-8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BY</a:t>
            </a:r>
            <a:endParaRPr sz="1800">
              <a:latin typeface="Tahoma"/>
              <a:cs typeface="Tahoma"/>
            </a:endParaRPr>
          </a:p>
          <a:p>
            <a:pPr marL="1002665" marR="1217930">
              <a:lnSpc>
                <a:spcPct val="100000"/>
              </a:lnSpc>
              <a:spcBef>
                <a:spcPts val="315"/>
              </a:spcBef>
            </a:pPr>
            <a:r>
              <a:rPr sz="2000" spc="-170" dirty="0">
                <a:latin typeface="Arial MT"/>
                <a:cs typeface="Arial MT"/>
              </a:rPr>
              <a:t>Prasannaram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254" dirty="0">
                <a:latin typeface="Arial MT"/>
                <a:cs typeface="Arial MT"/>
              </a:rPr>
              <a:t>R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R </a:t>
            </a:r>
            <a:r>
              <a:rPr sz="2000" spc="-45" dirty="0">
                <a:latin typeface="Arial MT"/>
                <a:cs typeface="Arial MT"/>
              </a:rPr>
              <a:t>[redacted]</a:t>
            </a:r>
            <a:endParaRPr sz="2000">
              <a:latin typeface="Arial MT"/>
              <a:cs typeface="Arial MT"/>
            </a:endParaRPr>
          </a:p>
          <a:p>
            <a:pPr marL="1002665">
              <a:lnSpc>
                <a:spcPct val="100000"/>
              </a:lnSpc>
            </a:pPr>
            <a:r>
              <a:rPr sz="2000" spc="-145" dirty="0">
                <a:latin typeface="Arial MT"/>
                <a:cs typeface="Arial MT"/>
              </a:rPr>
              <a:t>Final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5" dirty="0">
                <a:latin typeface="Arial MT"/>
                <a:cs typeface="Arial MT"/>
              </a:rPr>
              <a:t>Year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305" dirty="0">
                <a:latin typeface="Arial MT"/>
                <a:cs typeface="Arial MT"/>
              </a:rPr>
              <a:t>CSE</a:t>
            </a:r>
            <a:endParaRPr sz="2000">
              <a:latin typeface="Arial MT"/>
              <a:cs typeface="Arial MT"/>
            </a:endParaRPr>
          </a:p>
          <a:p>
            <a:pPr marL="1002665" marR="5080">
              <a:lnSpc>
                <a:spcPct val="100000"/>
              </a:lnSpc>
            </a:pPr>
            <a:r>
              <a:rPr sz="2000" spc="-210" dirty="0">
                <a:latin typeface="Arial MT"/>
                <a:cs typeface="Arial MT"/>
              </a:rPr>
              <a:t>V.S.B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95" dirty="0">
                <a:latin typeface="Arial MT"/>
                <a:cs typeface="Arial MT"/>
              </a:rPr>
              <a:t>College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Engineering </a:t>
            </a:r>
            <a:r>
              <a:rPr sz="2000" spc="-114" dirty="0">
                <a:latin typeface="Arial MT"/>
                <a:cs typeface="Arial MT"/>
              </a:rPr>
              <a:t>Technical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Campus, Coimbatore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4340" y="5182261"/>
            <a:ext cx="3816985" cy="22599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800" b="1" spc="-125" dirty="0">
                <a:latin typeface="Tahoma"/>
                <a:cs typeface="Tahoma"/>
              </a:rPr>
              <a:t>GUIDED</a:t>
            </a:r>
            <a:r>
              <a:rPr sz="1800" b="1" spc="-9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BY</a:t>
            </a:r>
            <a:endParaRPr sz="1800">
              <a:latin typeface="Tahoma"/>
              <a:cs typeface="Tahoma"/>
            </a:endParaRPr>
          </a:p>
          <a:p>
            <a:pPr marL="774700" marR="929640">
              <a:lnSpc>
                <a:spcPct val="100000"/>
              </a:lnSpc>
              <a:spcBef>
                <a:spcPts val="545"/>
              </a:spcBef>
            </a:pPr>
            <a:r>
              <a:rPr sz="2000" dirty="0">
                <a:latin typeface="Arial MT"/>
                <a:cs typeface="Arial MT"/>
              </a:rPr>
              <a:t>Dr.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245" dirty="0">
                <a:latin typeface="Arial MT"/>
                <a:cs typeface="Arial MT"/>
              </a:rPr>
              <a:t>Jamuna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R </a:t>
            </a:r>
            <a:r>
              <a:rPr sz="2000" spc="-110" dirty="0">
                <a:latin typeface="Arial MT"/>
                <a:cs typeface="Arial MT"/>
              </a:rPr>
              <a:t>Associate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Professor, </a:t>
            </a:r>
            <a:r>
              <a:rPr sz="2000" spc="-55" dirty="0">
                <a:latin typeface="Arial MT"/>
                <a:cs typeface="Arial MT"/>
              </a:rPr>
              <a:t>Department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80" dirty="0">
                <a:latin typeface="Arial MT"/>
                <a:cs typeface="Arial MT"/>
              </a:rPr>
              <a:t>CSE,</a:t>
            </a:r>
            <a:endParaRPr sz="2000">
              <a:latin typeface="Arial MT"/>
              <a:cs typeface="Arial MT"/>
            </a:endParaRPr>
          </a:p>
          <a:p>
            <a:pPr marL="774700" marR="5080">
              <a:lnSpc>
                <a:spcPct val="100000"/>
              </a:lnSpc>
            </a:pPr>
            <a:r>
              <a:rPr sz="2000" spc="-210" dirty="0">
                <a:latin typeface="Arial MT"/>
                <a:cs typeface="Arial MT"/>
              </a:rPr>
              <a:t>V.S.B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95" dirty="0">
                <a:latin typeface="Arial MT"/>
                <a:cs typeface="Arial MT"/>
              </a:rPr>
              <a:t>College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25" dirty="0">
                <a:latin typeface="Arial MT"/>
                <a:cs typeface="Arial MT"/>
              </a:rPr>
              <a:t>Engineering, </a:t>
            </a:r>
            <a:r>
              <a:rPr sz="2000" spc="-114" dirty="0">
                <a:latin typeface="Arial MT"/>
                <a:cs typeface="Arial MT"/>
              </a:rPr>
              <a:t>Technical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Campus, Coimbatore.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5450" rIns="0" bIns="0" rtlCol="0">
            <a:spAutoFit/>
          </a:bodyPr>
          <a:lstStyle/>
          <a:p>
            <a:pPr marL="177990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V.S.B</a:t>
            </a:r>
            <a:r>
              <a:rPr sz="2400" spc="145" dirty="0"/>
              <a:t> </a:t>
            </a:r>
            <a:r>
              <a:rPr sz="2400" dirty="0"/>
              <a:t>COLLEGE</a:t>
            </a:r>
            <a:r>
              <a:rPr sz="2400" spc="145" dirty="0"/>
              <a:t> </a:t>
            </a:r>
            <a:r>
              <a:rPr sz="2400" spc="95" dirty="0"/>
              <a:t>OF</a:t>
            </a:r>
            <a:r>
              <a:rPr sz="2400" spc="145" dirty="0"/>
              <a:t> </a:t>
            </a:r>
            <a:r>
              <a:rPr sz="2400" spc="150" dirty="0"/>
              <a:t>ENGINEERING</a:t>
            </a:r>
            <a:r>
              <a:rPr sz="2400" spc="140" dirty="0"/>
              <a:t> </a:t>
            </a:r>
            <a:r>
              <a:rPr sz="2400" spc="180" dirty="0"/>
              <a:t>TECHNICAL</a:t>
            </a:r>
            <a:endParaRPr sz="24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89559"/>
            <a:ext cx="1635252" cy="171145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107689" y="1946452"/>
            <a:ext cx="481965" cy="0"/>
          </a:xfrm>
          <a:custGeom>
            <a:avLst/>
            <a:gdLst/>
            <a:ahLst/>
            <a:cxnLst/>
            <a:rect l="l" t="t" r="r" b="b"/>
            <a:pathLst>
              <a:path w="481964">
                <a:moveTo>
                  <a:pt x="0" y="0"/>
                </a:moveTo>
                <a:lnTo>
                  <a:pt x="481416" y="0"/>
                </a:lnTo>
              </a:path>
            </a:pathLst>
          </a:custGeom>
          <a:ln w="39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96690" y="1946452"/>
            <a:ext cx="481965" cy="0"/>
          </a:xfrm>
          <a:custGeom>
            <a:avLst/>
            <a:gdLst/>
            <a:ahLst/>
            <a:cxnLst/>
            <a:rect l="l" t="t" r="r" b="b"/>
            <a:pathLst>
              <a:path w="481964">
                <a:moveTo>
                  <a:pt x="0" y="0"/>
                </a:moveTo>
                <a:lnTo>
                  <a:pt x="481416" y="0"/>
                </a:lnTo>
              </a:path>
            </a:pathLst>
          </a:custGeom>
          <a:ln w="39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96940" y="1946452"/>
            <a:ext cx="481965" cy="0"/>
          </a:xfrm>
          <a:custGeom>
            <a:avLst/>
            <a:gdLst/>
            <a:ahLst/>
            <a:cxnLst/>
            <a:rect l="l" t="t" r="r" b="b"/>
            <a:pathLst>
              <a:path w="481964">
                <a:moveTo>
                  <a:pt x="0" y="0"/>
                </a:moveTo>
                <a:lnTo>
                  <a:pt x="481416" y="0"/>
                </a:lnTo>
              </a:path>
            </a:pathLst>
          </a:custGeom>
          <a:ln w="39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75190" y="1946452"/>
            <a:ext cx="481965" cy="0"/>
          </a:xfrm>
          <a:custGeom>
            <a:avLst/>
            <a:gdLst/>
            <a:ahLst/>
            <a:cxnLst/>
            <a:rect l="l" t="t" r="r" b="b"/>
            <a:pathLst>
              <a:path w="481965">
                <a:moveTo>
                  <a:pt x="0" y="0"/>
                </a:moveTo>
                <a:lnTo>
                  <a:pt x="481416" y="0"/>
                </a:lnTo>
              </a:path>
            </a:pathLst>
          </a:custGeom>
          <a:ln w="39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8770" y="1217295"/>
            <a:ext cx="10488930" cy="34771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22070" algn="ctr">
              <a:lnSpc>
                <a:spcPct val="100000"/>
              </a:lnSpc>
              <a:spcBef>
                <a:spcPts val="105"/>
              </a:spcBef>
            </a:pPr>
            <a:r>
              <a:rPr sz="4800" b="1" spc="-1957" baseline="-35590" dirty="0">
                <a:latin typeface="Tahoma"/>
                <a:cs typeface="Tahoma"/>
              </a:rPr>
              <a:t>_</a:t>
            </a:r>
            <a:r>
              <a:rPr sz="2400" b="1" spc="-685" dirty="0">
                <a:latin typeface="Arial"/>
                <a:cs typeface="Arial"/>
              </a:rPr>
              <a:t>C</a:t>
            </a:r>
            <a:r>
              <a:rPr sz="4800" b="1" spc="-1904" baseline="-35590" dirty="0">
                <a:latin typeface="Tahoma"/>
                <a:cs typeface="Tahoma"/>
              </a:rPr>
              <a:t>_</a:t>
            </a:r>
            <a:r>
              <a:rPr sz="2400" b="1" spc="-819" dirty="0">
                <a:latin typeface="Arial"/>
                <a:cs typeface="Arial"/>
              </a:rPr>
              <a:t>A</a:t>
            </a:r>
            <a:r>
              <a:rPr sz="4800" b="1" spc="-1530" baseline="-35590" dirty="0">
                <a:latin typeface="Tahoma"/>
                <a:cs typeface="Tahoma"/>
              </a:rPr>
              <a:t>_</a:t>
            </a:r>
            <a:r>
              <a:rPr sz="2400" b="1" spc="-1310" dirty="0">
                <a:latin typeface="Arial"/>
                <a:cs typeface="Arial"/>
              </a:rPr>
              <a:t>M</a:t>
            </a:r>
            <a:r>
              <a:rPr sz="4800" b="1" spc="-705" baseline="-35590" dirty="0">
                <a:latin typeface="Tahoma"/>
                <a:cs typeface="Tahoma"/>
              </a:rPr>
              <a:t>_</a:t>
            </a:r>
            <a:r>
              <a:rPr sz="2400" b="1" spc="-1370" dirty="0">
                <a:latin typeface="Arial"/>
                <a:cs typeface="Arial"/>
              </a:rPr>
              <a:t>P</a:t>
            </a:r>
            <a:r>
              <a:rPr sz="4800" b="1" spc="-810" baseline="-35590" dirty="0">
                <a:latin typeface="Tahoma"/>
                <a:cs typeface="Tahoma"/>
              </a:rPr>
              <a:t>_</a:t>
            </a:r>
            <a:r>
              <a:rPr sz="2400" b="1" spc="35" dirty="0">
                <a:latin typeface="Arial"/>
                <a:cs typeface="Arial"/>
              </a:rPr>
              <a:t>U</a:t>
            </a:r>
            <a:r>
              <a:rPr sz="2400" b="1" spc="40" dirty="0">
                <a:latin typeface="Arial"/>
                <a:cs typeface="Arial"/>
              </a:rPr>
              <a:t>S</a:t>
            </a:r>
            <a:r>
              <a:rPr sz="2400" b="1" spc="-415" dirty="0">
                <a:latin typeface="Arial"/>
                <a:cs typeface="Arial"/>
              </a:rPr>
              <a:t> </a:t>
            </a:r>
            <a:r>
              <a:rPr sz="4800" b="1" spc="-2385" baseline="-35590" dirty="0">
                <a:latin typeface="Tahoma"/>
                <a:cs typeface="Tahoma"/>
              </a:rPr>
              <a:t>_</a:t>
            </a:r>
            <a:r>
              <a:rPr sz="2400" spc="-15" dirty="0">
                <a:latin typeface="Arial Black"/>
                <a:cs typeface="Arial Black"/>
              </a:rPr>
              <a:t>(</a:t>
            </a:r>
            <a:r>
              <a:rPr sz="2400" spc="-1689" dirty="0">
                <a:latin typeface="Arial Black"/>
                <a:cs typeface="Arial Black"/>
              </a:rPr>
              <a:t>A</a:t>
            </a:r>
            <a:r>
              <a:rPr sz="4800" b="1" spc="-765" baseline="-35590" dirty="0">
                <a:latin typeface="Tahoma"/>
                <a:cs typeface="Tahoma"/>
              </a:rPr>
              <a:t>_</a:t>
            </a:r>
            <a:r>
              <a:rPr sz="2400" spc="-20" dirty="0">
                <a:latin typeface="Arial Black"/>
                <a:cs typeface="Arial Black"/>
              </a:rPr>
              <a:t>n</a:t>
            </a:r>
            <a:r>
              <a:rPr sz="2400" spc="70" dirty="0">
                <a:latin typeface="Arial Black"/>
                <a:cs typeface="Arial Black"/>
              </a:rPr>
              <a:t> </a:t>
            </a:r>
            <a:r>
              <a:rPr sz="2400" spc="-375" dirty="0">
                <a:latin typeface="Arial Black"/>
                <a:cs typeface="Arial Black"/>
              </a:rPr>
              <a:t>A</a:t>
            </a:r>
            <a:r>
              <a:rPr sz="4800" b="1" spc="-2827" baseline="-35590" dirty="0">
                <a:latin typeface="Tahoma"/>
                <a:cs typeface="Tahoma"/>
              </a:rPr>
              <a:t>_</a:t>
            </a:r>
            <a:r>
              <a:rPr sz="2400" spc="-100" dirty="0">
                <a:latin typeface="Arial Black"/>
                <a:cs typeface="Arial Black"/>
              </a:rPr>
              <a:t>u</a:t>
            </a:r>
            <a:r>
              <a:rPr sz="2400" spc="-1080" dirty="0">
                <a:latin typeface="Arial Black"/>
                <a:cs typeface="Arial Black"/>
              </a:rPr>
              <a:t>t</a:t>
            </a:r>
            <a:r>
              <a:rPr sz="4800" b="1" spc="-1739" baseline="-35590" dirty="0">
                <a:latin typeface="Tahoma"/>
                <a:cs typeface="Tahoma"/>
              </a:rPr>
              <a:t>_</a:t>
            </a:r>
            <a:r>
              <a:rPr sz="2400" spc="-869" dirty="0">
                <a:latin typeface="Arial Black"/>
                <a:cs typeface="Arial Black"/>
              </a:rPr>
              <a:t>o</a:t>
            </a:r>
            <a:r>
              <a:rPr sz="4800" b="1" spc="-2175" baseline="-35590" dirty="0">
                <a:latin typeface="Tahoma"/>
                <a:cs typeface="Tahoma"/>
              </a:rPr>
              <a:t>_</a:t>
            </a:r>
            <a:r>
              <a:rPr sz="2400" spc="-505" dirty="0">
                <a:latin typeface="Arial Black"/>
                <a:cs typeface="Arial Black"/>
              </a:rPr>
              <a:t>n</a:t>
            </a:r>
            <a:r>
              <a:rPr sz="4800" b="1" spc="-2692" baseline="-35590" dirty="0">
                <a:latin typeface="Tahoma"/>
                <a:cs typeface="Tahoma"/>
              </a:rPr>
              <a:t>_</a:t>
            </a:r>
            <a:r>
              <a:rPr sz="2400" spc="-165" dirty="0">
                <a:latin typeface="Arial Black"/>
                <a:cs typeface="Arial Black"/>
              </a:rPr>
              <a:t>o</a:t>
            </a:r>
            <a:r>
              <a:rPr sz="4800" b="1" spc="-3127" baseline="-35590" dirty="0">
                <a:latin typeface="Tahoma"/>
                <a:cs typeface="Tahoma"/>
              </a:rPr>
              <a:t>_</a:t>
            </a:r>
            <a:r>
              <a:rPr sz="2400" spc="-620" dirty="0">
                <a:latin typeface="Arial Black"/>
                <a:cs typeface="Arial Black"/>
              </a:rPr>
              <a:t>m</a:t>
            </a:r>
            <a:r>
              <a:rPr sz="4800" b="1" spc="-2527" baseline="-35590" dirty="0">
                <a:latin typeface="Tahoma"/>
                <a:cs typeface="Tahoma"/>
              </a:rPr>
              <a:t>_</a:t>
            </a:r>
            <a:r>
              <a:rPr sz="2400" spc="-285" dirty="0">
                <a:latin typeface="Arial Black"/>
                <a:cs typeface="Arial Black"/>
              </a:rPr>
              <a:t>o</a:t>
            </a:r>
            <a:r>
              <a:rPr sz="4800" b="1" spc="-2962" baseline="-35590" dirty="0">
                <a:latin typeface="Tahoma"/>
                <a:cs typeface="Tahoma"/>
              </a:rPr>
              <a:t>_</a:t>
            </a:r>
            <a:r>
              <a:rPr sz="2400" spc="-100" dirty="0">
                <a:latin typeface="Arial Black"/>
                <a:cs typeface="Arial Black"/>
              </a:rPr>
              <a:t>us</a:t>
            </a:r>
            <a:r>
              <a:rPr sz="2400" spc="75" dirty="0">
                <a:latin typeface="Arial Black"/>
                <a:cs typeface="Arial Black"/>
              </a:rPr>
              <a:t> </a:t>
            </a:r>
            <a:r>
              <a:rPr sz="2400" spc="-35" dirty="0">
                <a:latin typeface="Arial Black"/>
                <a:cs typeface="Arial Black"/>
              </a:rPr>
              <a:t>I</a:t>
            </a:r>
            <a:r>
              <a:rPr sz="2400" spc="-434" dirty="0">
                <a:latin typeface="Arial Black"/>
                <a:cs typeface="Arial Black"/>
              </a:rPr>
              <a:t>n</a:t>
            </a:r>
            <a:r>
              <a:rPr sz="4800" b="1" spc="-2602" baseline="-35590" dirty="0">
                <a:latin typeface="Tahoma"/>
                <a:cs typeface="Tahoma"/>
              </a:rPr>
              <a:t>_</a:t>
            </a:r>
            <a:r>
              <a:rPr sz="2400" spc="-30" dirty="0">
                <a:latin typeface="Arial Black"/>
                <a:cs typeface="Arial Black"/>
              </a:rPr>
              <a:t>s</a:t>
            </a:r>
            <a:r>
              <a:rPr sz="2400" spc="-925" dirty="0">
                <a:latin typeface="Arial Black"/>
                <a:cs typeface="Arial Black"/>
              </a:rPr>
              <a:t>t</a:t>
            </a:r>
            <a:r>
              <a:rPr sz="4800" b="1" spc="-1777" baseline="-35590" dirty="0">
                <a:latin typeface="Tahoma"/>
                <a:cs typeface="Tahoma"/>
              </a:rPr>
              <a:t>_</a:t>
            </a:r>
            <a:r>
              <a:rPr sz="2400" spc="-30" dirty="0">
                <a:latin typeface="Arial Black"/>
                <a:cs typeface="Arial Black"/>
              </a:rPr>
              <a:t>i</a:t>
            </a:r>
            <a:r>
              <a:rPr sz="2400" spc="-815" dirty="0">
                <a:latin typeface="Arial Black"/>
                <a:cs typeface="Arial Black"/>
              </a:rPr>
              <a:t>t</a:t>
            </a:r>
            <a:r>
              <a:rPr sz="4800" b="1" spc="-1942" baseline="-35590" dirty="0">
                <a:latin typeface="Tahoma"/>
                <a:cs typeface="Tahoma"/>
              </a:rPr>
              <a:t>_</a:t>
            </a:r>
            <a:r>
              <a:rPr sz="2400" spc="-545" dirty="0">
                <a:latin typeface="Arial Black"/>
                <a:cs typeface="Arial Black"/>
              </a:rPr>
              <a:t>u</a:t>
            </a:r>
            <a:r>
              <a:rPr sz="4800" b="1" spc="-2460" baseline="-35590" dirty="0">
                <a:latin typeface="Tahoma"/>
                <a:cs typeface="Tahoma"/>
              </a:rPr>
              <a:t>_</a:t>
            </a:r>
            <a:r>
              <a:rPr sz="2400" spc="-30" dirty="0">
                <a:latin typeface="Arial Black"/>
                <a:cs typeface="Arial Black"/>
              </a:rPr>
              <a:t>t</a:t>
            </a:r>
            <a:r>
              <a:rPr sz="2400" spc="-500" dirty="0">
                <a:latin typeface="Arial Black"/>
                <a:cs typeface="Arial Black"/>
              </a:rPr>
              <a:t>i</a:t>
            </a:r>
            <a:r>
              <a:rPr sz="4800" b="1" spc="-2625" baseline="-35590" dirty="0">
                <a:latin typeface="Tahoma"/>
                <a:cs typeface="Tahoma"/>
              </a:rPr>
              <a:t>_</a:t>
            </a:r>
            <a:r>
              <a:rPr sz="2400" spc="-75" dirty="0">
                <a:latin typeface="Arial Black"/>
                <a:cs typeface="Arial Black"/>
              </a:rPr>
              <a:t>o</a:t>
            </a:r>
            <a:r>
              <a:rPr sz="4800" b="1" spc="-3060" baseline="-35590" dirty="0">
                <a:latin typeface="Tahoma"/>
                <a:cs typeface="Tahoma"/>
              </a:rPr>
              <a:t>_</a:t>
            </a:r>
            <a:r>
              <a:rPr sz="2400" spc="-35" dirty="0">
                <a:latin typeface="Arial Black"/>
                <a:cs typeface="Arial Black"/>
              </a:rPr>
              <a:t>n</a:t>
            </a:r>
            <a:r>
              <a:rPr sz="2400" spc="-715" dirty="0">
                <a:latin typeface="Arial Black"/>
                <a:cs typeface="Arial Black"/>
              </a:rPr>
              <a:t>)</a:t>
            </a:r>
            <a:r>
              <a:rPr sz="4800" b="1" spc="-757" baseline="-35590" dirty="0">
                <a:latin typeface="Tahoma"/>
                <a:cs typeface="Tahoma"/>
              </a:rPr>
              <a:t>_</a:t>
            </a:r>
            <a:r>
              <a:rPr sz="2400" b="1" spc="-540" dirty="0">
                <a:latin typeface="Arial"/>
                <a:cs typeface="Arial"/>
              </a:rPr>
              <a:t>,</a:t>
            </a:r>
            <a:r>
              <a:rPr sz="4800" b="1" spc="-1222" baseline="-35590" dirty="0">
                <a:latin typeface="Tahoma"/>
                <a:cs typeface="Tahoma"/>
              </a:rPr>
              <a:t>_</a:t>
            </a:r>
            <a:r>
              <a:rPr sz="2400" b="1" spc="-1310" dirty="0">
                <a:latin typeface="Arial"/>
                <a:cs typeface="Arial"/>
              </a:rPr>
              <a:t>C</a:t>
            </a:r>
            <a:r>
              <a:rPr sz="4800" b="1" spc="-1170" baseline="-35590" dirty="0">
                <a:latin typeface="Tahoma"/>
                <a:cs typeface="Tahoma"/>
              </a:rPr>
              <a:t>_</a:t>
            </a:r>
            <a:r>
              <a:rPr sz="2400" b="1" spc="-1500" dirty="0">
                <a:latin typeface="Arial"/>
                <a:cs typeface="Arial"/>
              </a:rPr>
              <a:t>O</a:t>
            </a:r>
            <a:r>
              <a:rPr sz="4800" b="1" spc="-727" baseline="-35590" dirty="0">
                <a:latin typeface="Tahoma"/>
                <a:cs typeface="Tahoma"/>
              </a:rPr>
              <a:t>_</a:t>
            </a:r>
            <a:r>
              <a:rPr sz="2400" b="1" spc="-590" dirty="0">
                <a:latin typeface="Arial"/>
                <a:cs typeface="Arial"/>
              </a:rPr>
              <a:t>I</a:t>
            </a:r>
            <a:r>
              <a:rPr sz="4800" b="1" spc="-2002" baseline="-35590" dirty="0">
                <a:latin typeface="Tahoma"/>
                <a:cs typeface="Tahoma"/>
              </a:rPr>
              <a:t>_</a:t>
            </a:r>
            <a:r>
              <a:rPr sz="2400" b="1" spc="-1175" dirty="0">
                <a:latin typeface="Arial"/>
                <a:cs typeface="Arial"/>
              </a:rPr>
              <a:t>M</a:t>
            </a:r>
            <a:r>
              <a:rPr sz="4800" b="1" spc="-1177" baseline="-35590" dirty="0">
                <a:latin typeface="Tahoma"/>
                <a:cs typeface="Tahoma"/>
              </a:rPr>
              <a:t>_</a:t>
            </a:r>
            <a:r>
              <a:rPr sz="2400" b="1" spc="-1345" dirty="0">
                <a:latin typeface="Arial"/>
                <a:cs typeface="Arial"/>
              </a:rPr>
              <a:t>B</a:t>
            </a:r>
            <a:r>
              <a:rPr sz="4800" b="1" spc="-1102" baseline="-35590" dirty="0">
                <a:latin typeface="Tahoma"/>
                <a:cs typeface="Tahoma"/>
              </a:rPr>
              <a:t>_</a:t>
            </a:r>
            <a:r>
              <a:rPr sz="2400" b="1" spc="-1425" dirty="0">
                <a:latin typeface="Arial"/>
                <a:cs typeface="Arial"/>
              </a:rPr>
              <a:t>A</a:t>
            </a:r>
            <a:r>
              <a:rPr sz="4800" b="1" spc="-727" baseline="-35590" dirty="0">
                <a:latin typeface="Tahoma"/>
                <a:cs typeface="Tahoma"/>
              </a:rPr>
              <a:t>_</a:t>
            </a:r>
            <a:r>
              <a:rPr sz="2400" b="1" spc="-1380" dirty="0">
                <a:latin typeface="Arial"/>
                <a:cs typeface="Arial"/>
              </a:rPr>
              <a:t>T</a:t>
            </a:r>
            <a:r>
              <a:rPr lang="en-IN" sz="4800" b="1" spc="-585" baseline="-35590" dirty="0">
                <a:latin typeface="Tahoma"/>
                <a:cs typeface="Tahoma"/>
              </a:rPr>
              <a:t>_</a:t>
            </a:r>
            <a:r>
              <a:rPr lang="en-IN" sz="2400" b="1" spc="-35" dirty="0">
                <a:latin typeface="Arial"/>
                <a:cs typeface="Arial"/>
              </a:rPr>
              <a:t>O</a:t>
            </a:r>
            <a:r>
              <a:rPr lang="en-IN" sz="2400" b="1" spc="-315" dirty="0">
                <a:latin typeface="Arial"/>
                <a:cs typeface="Arial"/>
              </a:rPr>
              <a:t>R</a:t>
            </a:r>
            <a:r>
              <a:rPr lang="en-IN" sz="4800" b="1" spc="-2700" baseline="-35590" dirty="0">
                <a:latin typeface="Tahoma"/>
                <a:cs typeface="Tahoma"/>
              </a:rPr>
              <a:t>_</a:t>
            </a:r>
            <a:r>
              <a:rPr lang="en-IN" sz="2400" b="1" spc="-35" dirty="0">
                <a:latin typeface="Arial"/>
                <a:cs typeface="Arial"/>
              </a:rPr>
              <a:t>E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lang="en-IN" sz="2400" dirty="0">
              <a:latin typeface="Arial"/>
              <a:cs typeface="Arial"/>
            </a:endParaRPr>
          </a:p>
          <a:p>
            <a:pPr marL="25400" marR="17780" indent="1148715">
              <a:lnSpc>
                <a:spcPct val="151700"/>
              </a:lnSpc>
            </a:pPr>
            <a:r>
              <a:rPr lang="en-US" sz="3200" b="1" spc="-229" dirty="0">
                <a:latin typeface="Tahoma"/>
                <a:cs typeface="Tahoma"/>
              </a:rPr>
              <a:t>SOFTWARE</a:t>
            </a:r>
            <a:r>
              <a:rPr lang="en-US" sz="3200" b="1" spc="-75" dirty="0">
                <a:latin typeface="Tahoma"/>
                <a:cs typeface="Tahoma"/>
              </a:rPr>
              <a:t> </a:t>
            </a:r>
            <a:r>
              <a:rPr lang="en-US" sz="3200" b="1" spc="-220" dirty="0">
                <a:latin typeface="Tahoma"/>
                <a:cs typeface="Tahoma"/>
              </a:rPr>
              <a:t>QUALITY</a:t>
            </a:r>
            <a:r>
              <a:rPr lang="en-US" sz="3200" b="1" spc="-210" dirty="0">
                <a:latin typeface="Tahoma"/>
                <a:cs typeface="Tahoma"/>
              </a:rPr>
              <a:t> </a:t>
            </a:r>
            <a:r>
              <a:rPr lang="en-US" sz="3200" b="1" spc="-240" dirty="0">
                <a:latin typeface="Tahoma"/>
                <a:cs typeface="Tahoma"/>
              </a:rPr>
              <a:t>ANALYTICS</a:t>
            </a:r>
            <a:r>
              <a:rPr lang="en-US" sz="3200" b="1" spc="-145" dirty="0">
                <a:latin typeface="Tahoma"/>
                <a:cs typeface="Tahoma"/>
              </a:rPr>
              <a:t> </a:t>
            </a:r>
            <a:r>
              <a:rPr lang="en-US" sz="3200" b="1" spc="-200" dirty="0">
                <a:latin typeface="Tahoma"/>
                <a:cs typeface="Tahoma"/>
              </a:rPr>
              <a:t>AND</a:t>
            </a:r>
            <a:r>
              <a:rPr lang="en-US" sz="3200" b="1" spc="-155" dirty="0">
                <a:latin typeface="Tahoma"/>
                <a:cs typeface="Tahoma"/>
              </a:rPr>
              <a:t> </a:t>
            </a:r>
            <a:r>
              <a:rPr lang="en-US" sz="3200" b="1" spc="-20" dirty="0">
                <a:latin typeface="Tahoma"/>
                <a:cs typeface="Tahoma"/>
              </a:rPr>
              <a:t>RISK </a:t>
            </a:r>
            <a:r>
              <a:rPr lang="en-US" sz="3200" b="1" spc="-245" dirty="0">
                <a:latin typeface="Tahoma"/>
                <a:cs typeface="Tahoma"/>
              </a:rPr>
              <a:t>ASSESSMENT</a:t>
            </a:r>
            <a:r>
              <a:rPr lang="en-US" sz="3200" b="1" spc="25" dirty="0">
                <a:latin typeface="Tahoma"/>
                <a:cs typeface="Tahoma"/>
              </a:rPr>
              <a:t> </a:t>
            </a:r>
            <a:r>
              <a:rPr lang="en-US" sz="3200" b="1" spc="-250" dirty="0">
                <a:latin typeface="Tahoma"/>
                <a:cs typeface="Tahoma"/>
              </a:rPr>
              <a:t>USING</a:t>
            </a:r>
            <a:r>
              <a:rPr lang="en-US" sz="3200" b="1" spc="-140" dirty="0">
                <a:latin typeface="Tahoma"/>
                <a:cs typeface="Tahoma"/>
              </a:rPr>
              <a:t> </a:t>
            </a:r>
            <a:r>
              <a:rPr lang="en-US" sz="3200" b="1" spc="-240" dirty="0">
                <a:latin typeface="Tahoma"/>
                <a:cs typeface="Tahoma"/>
              </a:rPr>
              <a:t>CLOUD-</a:t>
            </a:r>
            <a:r>
              <a:rPr lang="en-US" sz="3200" b="1" spc="-215" dirty="0">
                <a:latin typeface="Tahoma"/>
                <a:cs typeface="Tahoma"/>
              </a:rPr>
              <a:t>BASED</a:t>
            </a:r>
            <a:r>
              <a:rPr lang="en-US" sz="3200" b="1" spc="-140" dirty="0">
                <a:latin typeface="Tahoma"/>
                <a:cs typeface="Tahoma"/>
              </a:rPr>
              <a:t> </a:t>
            </a:r>
            <a:r>
              <a:rPr lang="en-US" sz="3200" b="1" spc="-275" dirty="0">
                <a:latin typeface="Tahoma"/>
                <a:cs typeface="Tahoma"/>
              </a:rPr>
              <a:t>MACHINE</a:t>
            </a:r>
            <a:r>
              <a:rPr lang="en-US" sz="3200" b="1" spc="-55" dirty="0">
                <a:latin typeface="Tahoma"/>
                <a:cs typeface="Tahoma"/>
              </a:rPr>
              <a:t> </a:t>
            </a:r>
            <a:r>
              <a:rPr lang="en-US" sz="3200" b="1" spc="-275" dirty="0">
                <a:latin typeface="Tahoma"/>
                <a:cs typeface="Tahoma"/>
              </a:rPr>
              <a:t>LEARNING</a:t>
            </a:r>
          </a:p>
          <a:p>
            <a:pPr marL="25400" marR="17780" indent="1148715">
              <a:lnSpc>
                <a:spcPct val="151700"/>
              </a:lnSpc>
            </a:pPr>
            <a:r>
              <a:rPr lang="en-US" sz="3200" b="1">
                <a:latin typeface="Tahoma"/>
                <a:cs typeface="Tahoma"/>
              </a:rPr>
              <a:t>           PROJECT </a:t>
            </a:r>
            <a:r>
              <a:rPr lang="en-US" sz="3200" b="1" dirty="0">
                <a:latin typeface="Tahoma"/>
                <a:cs typeface="Tahoma"/>
              </a:rPr>
              <a:t>ZEROTH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233785" cy="6440805"/>
          </a:xfrm>
          <a:custGeom>
            <a:avLst/>
            <a:gdLst/>
            <a:ahLst/>
            <a:cxnLst/>
            <a:rect l="l" t="t" r="r" b="b"/>
            <a:pathLst>
              <a:path w="11233785" h="6440805">
                <a:moveTo>
                  <a:pt x="11233302" y="6440424"/>
                </a:moveTo>
                <a:lnTo>
                  <a:pt x="0" y="6440424"/>
                </a:lnTo>
                <a:lnTo>
                  <a:pt x="0" y="0"/>
                </a:lnTo>
                <a:lnTo>
                  <a:pt x="11233302" y="0"/>
                </a:lnTo>
                <a:lnTo>
                  <a:pt x="11233302" y="6440424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0739" y="984885"/>
            <a:ext cx="198882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90" dirty="0">
                <a:latin typeface="Tahoma"/>
                <a:cs typeface="Tahoma"/>
              </a:rPr>
              <a:t>AGENDA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3339" y="1673860"/>
            <a:ext cx="3435350" cy="4718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10" dirty="0">
                <a:latin typeface="Arial MT"/>
                <a:cs typeface="Arial MT"/>
              </a:rPr>
              <a:t>Objective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125" dirty="0">
                <a:latin typeface="Arial MT"/>
                <a:cs typeface="Arial MT"/>
              </a:rPr>
              <a:t>Problem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35" dirty="0">
                <a:latin typeface="Arial MT"/>
                <a:cs typeface="Arial MT"/>
              </a:rPr>
              <a:t>Introduction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155" dirty="0">
                <a:latin typeface="Arial MT"/>
                <a:cs typeface="Arial MT"/>
              </a:rPr>
              <a:t>Existing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155" dirty="0">
                <a:latin typeface="Arial MT"/>
                <a:cs typeface="Arial MT"/>
              </a:rPr>
              <a:t>Proposed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25" dirty="0">
                <a:latin typeface="Arial MT"/>
                <a:cs typeface="Arial MT"/>
              </a:rPr>
              <a:t>Conclusion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297815" indent="-285750">
              <a:lnSpc>
                <a:spcPct val="100000"/>
              </a:lnSpc>
              <a:buSzPct val="96428"/>
              <a:buFont typeface="Wingdings"/>
              <a:buChar char=""/>
              <a:tabLst>
                <a:tab pos="297815" algn="l"/>
              </a:tabLst>
            </a:pPr>
            <a:r>
              <a:rPr sz="2800" spc="-95" dirty="0">
                <a:latin typeface="Arial MT"/>
                <a:cs typeface="Arial MT"/>
              </a:rPr>
              <a:t>References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397000"/>
            <a:ext cx="10420985" cy="7061200"/>
          </a:xfrm>
          <a:custGeom>
            <a:avLst/>
            <a:gdLst/>
            <a:ahLst/>
            <a:cxnLst/>
            <a:rect l="l" t="t" r="r" b="b"/>
            <a:pathLst>
              <a:path w="10420985" h="7061200">
                <a:moveTo>
                  <a:pt x="10420985" y="7061200"/>
                </a:moveTo>
                <a:lnTo>
                  <a:pt x="0" y="7061200"/>
                </a:lnTo>
                <a:lnTo>
                  <a:pt x="0" y="0"/>
                </a:lnTo>
                <a:lnTo>
                  <a:pt x="10420985" y="0"/>
                </a:lnTo>
                <a:lnTo>
                  <a:pt x="10420985" y="70612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95"/>
              </a:spcBef>
            </a:pPr>
            <a:r>
              <a:rPr sz="4000" spc="-295" dirty="0">
                <a:solidFill>
                  <a:srgbClr val="1F1E1E"/>
                </a:solidFill>
                <a:latin typeface="Tahoma"/>
                <a:cs typeface="Tahoma"/>
              </a:rPr>
              <a:t>OBJECTIVES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755" y="1534160"/>
            <a:ext cx="10363835" cy="6590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design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375" dirty="0">
                <a:latin typeface="Arial MT"/>
                <a:cs typeface="Arial MT"/>
              </a:rPr>
              <a:t>a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05" dirty="0">
                <a:latin typeface="Arial MT"/>
                <a:cs typeface="Arial MT"/>
              </a:rPr>
              <a:t>cloud-</a:t>
            </a:r>
            <a:r>
              <a:rPr sz="2800" spc="-254" dirty="0">
                <a:latin typeface="Arial MT"/>
                <a:cs typeface="Arial MT"/>
              </a:rPr>
              <a:t>based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95" dirty="0">
                <a:latin typeface="Arial MT"/>
                <a:cs typeface="Arial MT"/>
              </a:rPr>
              <a:t>machine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learning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90" dirty="0">
                <a:latin typeface="Arial MT"/>
                <a:cs typeface="Arial MT"/>
              </a:rPr>
              <a:t>system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quality </a:t>
            </a:r>
            <a:r>
              <a:rPr sz="2800" spc="-75" dirty="0">
                <a:latin typeface="Arial MT"/>
                <a:cs typeface="Arial MT"/>
              </a:rPr>
              <a:t>analytics.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analyze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historical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80" dirty="0">
                <a:latin typeface="Arial MT"/>
                <a:cs typeface="Arial MT"/>
              </a:rPr>
              <a:t>metrics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defect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355600" marR="506095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predict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14" dirty="0">
                <a:latin typeface="Arial MT"/>
                <a:cs typeface="Arial MT"/>
              </a:rPr>
              <a:t>defect-</a:t>
            </a:r>
            <a:r>
              <a:rPr sz="2800" spc="-65" dirty="0">
                <a:latin typeface="Arial MT"/>
                <a:cs typeface="Arial MT"/>
              </a:rPr>
              <a:t>prone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55" dirty="0">
                <a:latin typeface="Arial MT"/>
                <a:cs typeface="Arial MT"/>
              </a:rPr>
              <a:t>modules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using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95" dirty="0">
                <a:latin typeface="Arial MT"/>
                <a:cs typeface="Arial MT"/>
              </a:rPr>
              <a:t>machine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learning </a:t>
            </a:r>
            <a:r>
              <a:rPr sz="2800" spc="-70" dirty="0">
                <a:latin typeface="Arial MT"/>
                <a:cs typeface="Arial MT"/>
              </a:rPr>
              <a:t>techniques.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355600" marR="121031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95" dirty="0">
                <a:latin typeface="Arial MT"/>
                <a:cs typeface="Arial MT"/>
              </a:rPr>
              <a:t>classify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55" dirty="0">
                <a:latin typeface="Arial MT"/>
                <a:cs typeface="Arial MT"/>
              </a:rPr>
              <a:t>modules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into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high,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155" dirty="0">
                <a:latin typeface="Arial MT"/>
                <a:cs typeface="Arial MT"/>
              </a:rPr>
              <a:t>medium,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low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risk </a:t>
            </a:r>
            <a:r>
              <a:rPr sz="2800" spc="-65" dirty="0">
                <a:latin typeface="Arial MT"/>
                <a:cs typeface="Arial MT"/>
              </a:rPr>
              <a:t>categories.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355600" marR="7747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support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better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testing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prioritization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quality-</a:t>
            </a:r>
            <a:r>
              <a:rPr sz="2800" spc="-45" dirty="0">
                <a:latin typeface="Arial MT"/>
                <a:cs typeface="Arial MT"/>
              </a:rPr>
              <a:t>oriented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decision </a:t>
            </a:r>
            <a:r>
              <a:rPr sz="2800" spc="-60" dirty="0">
                <a:latin typeface="Arial MT"/>
                <a:cs typeface="Arial MT"/>
              </a:rPr>
              <a:t>making.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Wingdings"/>
              <a:buChar char=""/>
            </a:pP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80" dirty="0">
                <a:latin typeface="Arial MT"/>
                <a:cs typeface="Arial MT"/>
              </a:rPr>
              <a:t>improve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overall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software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reliability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3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reduce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maintenance</a:t>
            </a:r>
            <a:r>
              <a:rPr sz="2800" spc="-10" dirty="0">
                <a:latin typeface="Arial MT"/>
                <a:cs typeface="Arial MT"/>
              </a:rPr>
              <a:t> cost.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95"/>
              </a:spcBef>
            </a:pPr>
            <a:r>
              <a:rPr sz="4000" spc="-300" dirty="0">
                <a:solidFill>
                  <a:srgbClr val="1F1E1E"/>
                </a:solidFill>
                <a:latin typeface="Tahoma"/>
                <a:cs typeface="Tahoma"/>
              </a:rPr>
              <a:t>PROBLEM</a:t>
            </a:r>
            <a:r>
              <a:rPr sz="4000" spc="-39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4000" spc="-305" dirty="0">
                <a:solidFill>
                  <a:srgbClr val="1F1E1E"/>
                </a:solidFill>
                <a:latin typeface="Tahoma"/>
                <a:cs typeface="Tahoma"/>
              </a:rPr>
              <a:t>INTRODUCTION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9140" y="1418590"/>
            <a:ext cx="10071735" cy="6609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839469" indent="-4572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spc="-70" dirty="0">
                <a:latin typeface="Arial MT"/>
                <a:cs typeface="Arial MT"/>
              </a:rPr>
              <a:t>Modern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systems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becoming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large,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complex,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difficult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30" dirty="0">
                <a:latin typeface="Arial MT"/>
                <a:cs typeface="Arial MT"/>
              </a:rPr>
              <a:t>to </a:t>
            </a:r>
            <a:r>
              <a:rPr sz="2400" spc="-240" dirty="0">
                <a:latin typeface="Arial MT"/>
                <a:cs typeface="Arial MT"/>
              </a:rPr>
              <a:t>manage,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which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makes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quality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assurance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challenging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task.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469900" marR="5334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105" dirty="0">
                <a:latin typeface="Arial MT"/>
                <a:cs typeface="Arial MT"/>
              </a:rPr>
              <a:t>Software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defects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can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lead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system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failures,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increased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maintenance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cost,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poor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user</a:t>
            </a:r>
            <a:r>
              <a:rPr sz="2400" spc="-25" dirty="0">
                <a:latin typeface="Arial MT"/>
                <a:cs typeface="Arial MT"/>
              </a:rPr>
              <a:t> experience.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469900" marR="13081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60" dirty="0">
                <a:latin typeface="Arial MT"/>
                <a:cs typeface="Arial MT"/>
              </a:rPr>
              <a:t>Traditional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methods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usually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detect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defects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only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after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development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40" dirty="0">
                <a:latin typeface="Arial MT"/>
                <a:cs typeface="Arial MT"/>
              </a:rPr>
              <a:t>or </a:t>
            </a:r>
            <a:r>
              <a:rPr sz="2400" spc="-110" dirty="0">
                <a:latin typeface="Arial MT"/>
                <a:cs typeface="Arial MT"/>
              </a:rPr>
              <a:t>deployment,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which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increases</a:t>
            </a:r>
            <a:r>
              <a:rPr sz="2400" dirty="0">
                <a:latin typeface="Arial MT"/>
                <a:cs typeface="Arial MT"/>
              </a:rPr>
              <a:t> rework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469900" marR="18796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55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real-</a:t>
            </a:r>
            <a:r>
              <a:rPr sz="2400" dirty="0">
                <a:latin typeface="Arial MT"/>
                <a:cs typeface="Arial MT"/>
              </a:rPr>
              <a:t>world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projects,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modules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same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priority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practical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due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time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resource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limitations.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469900" marR="70231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80" dirty="0">
                <a:latin typeface="Arial MT"/>
                <a:cs typeface="Arial MT"/>
              </a:rPr>
              <a:t>Although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historical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data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available,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it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effectively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used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30" dirty="0">
                <a:latin typeface="Arial MT"/>
                <a:cs typeface="Arial MT"/>
              </a:rPr>
              <a:t>to </a:t>
            </a:r>
            <a:r>
              <a:rPr sz="2400" spc="-40" dirty="0">
                <a:latin typeface="Arial MT"/>
                <a:cs typeface="Arial MT"/>
              </a:rPr>
              <a:t>predict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defect-</a:t>
            </a:r>
            <a:r>
              <a:rPr sz="2400" spc="-60" dirty="0">
                <a:latin typeface="Arial MT"/>
                <a:cs typeface="Arial MT"/>
              </a:rPr>
              <a:t>prone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modules.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spc="-70" dirty="0">
                <a:latin typeface="Arial MT"/>
                <a:cs typeface="Arial MT"/>
              </a:rPr>
              <a:t>Therefore,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there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need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-235" dirty="0">
                <a:latin typeface="Arial MT"/>
                <a:cs typeface="Arial MT"/>
              </a:rPr>
              <a:t>an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intelligent,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machine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learning-</a:t>
            </a:r>
            <a:r>
              <a:rPr sz="2400" spc="-225" dirty="0">
                <a:latin typeface="Arial MT"/>
                <a:cs typeface="Arial MT"/>
              </a:rPr>
              <a:t>based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 </a:t>
            </a:r>
            <a:r>
              <a:rPr sz="2400" spc="-20" dirty="0">
                <a:latin typeface="Arial MT"/>
                <a:cs typeface="Arial MT"/>
              </a:rPr>
              <a:t>that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can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analyze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past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data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predict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risky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modules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early,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helping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quality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8100"/>
            <a:ext cx="11430000" cy="8420100"/>
          </a:xfrm>
          <a:custGeom>
            <a:avLst/>
            <a:gdLst/>
            <a:ahLst/>
            <a:cxnLst/>
            <a:rect l="l" t="t" r="r" b="b"/>
            <a:pathLst>
              <a:path w="11430000" h="8420100">
                <a:moveTo>
                  <a:pt x="11430000" y="0"/>
                </a:moveTo>
                <a:lnTo>
                  <a:pt x="0" y="0"/>
                </a:lnTo>
                <a:lnTo>
                  <a:pt x="0" y="8420100"/>
                </a:lnTo>
                <a:lnTo>
                  <a:pt x="11430000" y="8420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4840" y="859790"/>
            <a:ext cx="44761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>
                <a:solidFill>
                  <a:srgbClr val="1F1E1E"/>
                </a:solidFill>
                <a:latin typeface="Tahoma"/>
                <a:cs typeface="Tahoma"/>
              </a:rPr>
              <a:t>LITERATURE</a:t>
            </a:r>
            <a:r>
              <a:rPr spc="-6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pc="-220" dirty="0">
                <a:solidFill>
                  <a:srgbClr val="1F1E1E"/>
                </a:solidFill>
                <a:latin typeface="Tahoma"/>
                <a:cs typeface="Tahoma"/>
              </a:rPr>
              <a:t>REVIEW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7889" y="1784350"/>
          <a:ext cx="9977120" cy="5864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Author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 Year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spc="-135" dirty="0">
                          <a:latin typeface="Arial MT"/>
                          <a:cs typeface="Arial MT"/>
                        </a:rPr>
                        <a:t>Technique</a:t>
                      </a:r>
                      <a:r>
                        <a:rPr sz="24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Used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7886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spc="-135" dirty="0"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2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50" dirty="0">
                          <a:latin typeface="Arial MT"/>
                          <a:cs typeface="Arial MT"/>
                        </a:rPr>
                        <a:t>/ </a:t>
                      </a:r>
                      <a:r>
                        <a:rPr sz="2400" spc="-125" dirty="0">
                          <a:latin typeface="Arial MT"/>
                          <a:cs typeface="Arial MT"/>
                        </a:rPr>
                        <a:t>Performance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Limitation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85">
                <a:tc>
                  <a:txBody>
                    <a:bodyPr/>
                    <a:lstStyle/>
                    <a:p>
                      <a:pPr marL="91440" marR="6013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4" dirty="0">
                          <a:latin typeface="Arial MT"/>
                          <a:cs typeface="Arial MT"/>
                        </a:rPr>
                        <a:t>Base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35" dirty="0">
                          <a:latin typeface="Arial MT"/>
                          <a:cs typeface="Arial MT"/>
                        </a:rPr>
                        <a:t>Paper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—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40" dirty="0">
                          <a:latin typeface="Arial MT"/>
                          <a:cs typeface="Arial MT"/>
                        </a:rPr>
                        <a:t>IEEE </a:t>
                      </a:r>
                      <a:r>
                        <a:rPr sz="1800" spc="-140" dirty="0"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2025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717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45" dirty="0">
                          <a:latin typeface="Arial MT"/>
                          <a:cs typeface="Arial MT"/>
                        </a:rPr>
                        <a:t>Autoencoder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80" dirty="0">
                          <a:latin typeface="Arial MT"/>
                          <a:cs typeface="Arial MT"/>
                        </a:rPr>
                        <a:t>MLP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+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XAI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699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65" dirty="0">
                          <a:latin typeface="Arial MT"/>
                          <a:cs typeface="Arial MT"/>
                        </a:rPr>
                        <a:t>Improved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prediction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performance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626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60" dirty="0">
                          <a:latin typeface="Arial MT"/>
                          <a:cs typeface="Arial MT"/>
                        </a:rPr>
                        <a:t>quality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5" dirty="0">
                          <a:latin typeface="Arial MT"/>
                          <a:cs typeface="Arial MT"/>
                        </a:rPr>
                        <a:t>analytics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platform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005">
                <a:tc>
                  <a:txBody>
                    <a:bodyPr/>
                    <a:lstStyle/>
                    <a:p>
                      <a:pPr marL="91440" marR="4572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Ali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et </a:t>
                      </a:r>
                      <a:r>
                        <a:rPr sz="1800" spc="-185" dirty="0">
                          <a:latin typeface="Arial MT"/>
                          <a:cs typeface="Arial MT"/>
                        </a:rPr>
                        <a:t>al.,IEEE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35" dirty="0">
                          <a:latin typeface="Arial MT"/>
                          <a:cs typeface="Arial MT"/>
                        </a:rPr>
                        <a:t>Access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2024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758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50" dirty="0">
                          <a:latin typeface="Arial MT"/>
                          <a:cs typeface="Arial MT"/>
                        </a:rPr>
                        <a:t>Ensemble</a:t>
                      </a:r>
                      <a:r>
                        <a:rPr sz="1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14" dirty="0">
                          <a:latin typeface="Arial MT"/>
                          <a:cs typeface="Arial MT"/>
                        </a:rPr>
                        <a:t>ML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65" dirty="0">
                          <a:latin typeface="Arial MT"/>
                          <a:cs typeface="Arial MT"/>
                        </a:rPr>
                        <a:t>(RF,</a:t>
                      </a:r>
                      <a:r>
                        <a:rPr sz="18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65" dirty="0">
                          <a:latin typeface="Arial MT"/>
                          <a:cs typeface="Arial MT"/>
                        </a:rPr>
                        <a:t>SVM, 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NB,</a:t>
                      </a:r>
                      <a:r>
                        <a:rPr sz="18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ANN)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1338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60" dirty="0">
                          <a:latin typeface="Arial MT"/>
                          <a:cs typeface="Arial MT"/>
                        </a:rPr>
                        <a:t>Higher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accuracy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75" dirty="0">
                          <a:latin typeface="Arial MT"/>
                          <a:cs typeface="Arial MT"/>
                        </a:rPr>
                        <a:t>than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single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models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152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Only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prediction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75" dirty="0">
                          <a:latin typeface="Arial MT"/>
                          <a:cs typeface="Arial MT"/>
                        </a:rPr>
                        <a:t>model,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8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full</a:t>
                      </a:r>
                      <a:r>
                        <a:rPr sz="18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system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6640">
                <a:tc>
                  <a:txBody>
                    <a:bodyPr/>
                    <a:lstStyle/>
                    <a:p>
                      <a:pPr marL="91440" marR="7035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30" dirty="0">
                          <a:latin typeface="Arial MT"/>
                          <a:cs typeface="Arial MT"/>
                        </a:rPr>
                        <a:t>Siddika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et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14" dirty="0">
                          <a:latin typeface="Arial MT"/>
                          <a:cs typeface="Arial MT"/>
                        </a:rPr>
                        <a:t>al.,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35" dirty="0">
                          <a:latin typeface="Arial MT"/>
                          <a:cs typeface="Arial MT"/>
                        </a:rPr>
                        <a:t>IEEE </a:t>
                      </a:r>
                      <a:r>
                        <a:rPr sz="1800" spc="-140" dirty="0"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2023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20" dirty="0">
                          <a:latin typeface="Arial MT"/>
                          <a:cs typeface="Arial MT"/>
                        </a:rPr>
                        <a:t>Explainable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14" dirty="0">
                          <a:latin typeface="Arial MT"/>
                          <a:cs typeface="Arial MT"/>
                        </a:rPr>
                        <a:t>ML</a:t>
                      </a:r>
                      <a:r>
                        <a:rPr sz="18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(XAI)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5010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Good</a:t>
                      </a:r>
                      <a:r>
                        <a:rPr sz="18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accuracy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with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interpretability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705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60" dirty="0">
                          <a:latin typeface="Arial MT"/>
                          <a:cs typeface="Arial MT"/>
                        </a:rPr>
                        <a:t>Higher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complexity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30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computation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4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30" dirty="0">
                          <a:latin typeface="Arial MT"/>
                          <a:cs typeface="Arial MT"/>
                        </a:rPr>
                        <a:t>Zhang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et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14" dirty="0">
                          <a:latin typeface="Arial MT"/>
                          <a:cs typeface="Arial MT"/>
                        </a:rPr>
                        <a:t>al.,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2022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80" dirty="0">
                          <a:latin typeface="Arial MT"/>
                          <a:cs typeface="Arial MT"/>
                        </a:rPr>
                        <a:t>Deep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Learning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762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Better</a:t>
                      </a:r>
                      <a:r>
                        <a:rPr sz="1800" spc="-60" dirty="0">
                          <a:latin typeface="Arial MT"/>
                          <a:cs typeface="Arial MT"/>
                        </a:rPr>
                        <a:t> feature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90" dirty="0">
                          <a:latin typeface="Arial MT"/>
                          <a:cs typeface="Arial MT"/>
                        </a:rPr>
                        <a:t>learning </a:t>
                      </a:r>
                      <a:r>
                        <a:rPr sz="1800" spc="-14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accuracy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171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95" dirty="0">
                          <a:latin typeface="Arial MT"/>
                          <a:cs typeface="Arial MT"/>
                        </a:rPr>
                        <a:t>Needs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5" dirty="0">
                          <a:latin typeface="Arial MT"/>
                          <a:cs typeface="Arial MT"/>
                        </a:rPr>
                        <a:t>large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5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20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800" spc="-11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training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time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73990"/>
            <a:ext cx="39484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>
                <a:solidFill>
                  <a:srgbClr val="1F1E1E"/>
                </a:solidFill>
                <a:latin typeface="Tahoma"/>
                <a:cs typeface="Tahoma"/>
              </a:rPr>
              <a:t>EXISTING</a:t>
            </a:r>
            <a:r>
              <a:rPr spc="-6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pc="-140" dirty="0">
                <a:solidFill>
                  <a:srgbClr val="1F1E1E"/>
                </a:solidFill>
                <a:latin typeface="Tahoma"/>
                <a:cs typeface="Tahoma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688974"/>
            <a:ext cx="10475595" cy="7184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02969" indent="-342900">
              <a:lnSpc>
                <a:spcPct val="1359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-60" dirty="0">
                <a:latin typeface="Arial MT"/>
                <a:cs typeface="Arial MT"/>
              </a:rPr>
              <a:t>Traditional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defect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detection </a:t>
            </a:r>
            <a:r>
              <a:rPr sz="2400" spc="-90" dirty="0">
                <a:latin typeface="Arial MT"/>
                <a:cs typeface="Arial MT"/>
              </a:rPr>
              <a:t>relies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40" dirty="0">
                <a:latin typeface="Arial MT"/>
                <a:cs typeface="Arial MT"/>
              </a:rPr>
              <a:t>mainly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manual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rule-</a:t>
            </a:r>
            <a:r>
              <a:rPr sz="2400" spc="-100" dirty="0">
                <a:latin typeface="Arial MT"/>
                <a:cs typeface="Arial MT"/>
              </a:rPr>
              <a:t>based </a:t>
            </a:r>
            <a:r>
              <a:rPr sz="2400" spc="-70" dirty="0">
                <a:latin typeface="Arial MT"/>
                <a:cs typeface="Arial MT"/>
              </a:rPr>
              <a:t>approaches.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195" dirty="0">
                <a:latin typeface="Arial MT"/>
                <a:cs typeface="Arial MT"/>
              </a:rPr>
              <a:t>Many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ML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approaches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focus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only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prediction </a:t>
            </a:r>
            <a:r>
              <a:rPr sz="2400" spc="-135" dirty="0">
                <a:latin typeface="Arial MT"/>
                <a:cs typeface="Arial MT"/>
              </a:rPr>
              <a:t>models,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complete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55" dirty="0">
                <a:latin typeface="Arial MT"/>
                <a:cs typeface="Arial MT"/>
              </a:rPr>
              <a:t>Most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systems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use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raw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metrics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advanced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feature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learning.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75" dirty="0">
                <a:latin typeface="Arial MT"/>
                <a:cs typeface="Arial MT"/>
              </a:rPr>
              <a:t>Limited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65" dirty="0">
                <a:latin typeface="Arial MT"/>
                <a:cs typeface="Arial MT"/>
              </a:rPr>
              <a:t>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explainability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provided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predictions.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100" dirty="0">
                <a:latin typeface="Arial MT"/>
                <a:cs typeface="Arial MT"/>
              </a:rPr>
              <a:t>Defects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are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detected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late,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increasing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cost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rework.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70" dirty="0">
                <a:latin typeface="Arial MT"/>
                <a:cs typeface="Arial MT"/>
              </a:rPr>
              <a:t>There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integrated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analytics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dashboard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risk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analysis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decision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140" dirty="0">
                <a:latin typeface="Arial MT"/>
                <a:cs typeface="Arial MT"/>
              </a:rPr>
              <a:t>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result,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maintenance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need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high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time,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cost,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effort.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190500"/>
            <a:ext cx="3641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>
                <a:solidFill>
                  <a:srgbClr val="1F1E1E"/>
                </a:solidFill>
                <a:latin typeface="Tahoma"/>
                <a:cs typeface="Tahoma"/>
              </a:rPr>
              <a:t>Proposed</a:t>
            </a:r>
            <a:r>
              <a:rPr spc="-27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pc="-165" dirty="0">
                <a:solidFill>
                  <a:srgbClr val="1F1E1E"/>
                </a:solidFill>
                <a:latin typeface="Tahoma"/>
                <a:cs typeface="Tahoma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940434"/>
            <a:ext cx="10596880" cy="719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63855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-105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proposed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system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cloud-</a:t>
            </a:r>
            <a:r>
              <a:rPr sz="2400" spc="-225" dirty="0">
                <a:latin typeface="Arial MT"/>
                <a:cs typeface="Arial MT"/>
              </a:rPr>
              <a:t>based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quality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analytics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platform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375" dirty="0">
                <a:latin typeface="Arial MT"/>
                <a:cs typeface="Arial MT"/>
              </a:rPr>
              <a:t>a </a:t>
            </a:r>
            <a:r>
              <a:rPr sz="2400" spc="-140" dirty="0">
                <a:latin typeface="Arial MT"/>
                <a:cs typeface="Arial MT"/>
              </a:rPr>
              <a:t>simple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user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interface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dashboard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defect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risk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analysis.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marR="10668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provides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an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end-</a:t>
            </a:r>
            <a:r>
              <a:rPr sz="2400" dirty="0">
                <a:latin typeface="Arial MT"/>
                <a:cs typeface="Arial MT"/>
              </a:rPr>
              <a:t>to-</a:t>
            </a:r>
            <a:r>
              <a:rPr sz="2400" spc="-155" dirty="0">
                <a:latin typeface="Arial MT"/>
                <a:cs typeface="Arial MT"/>
              </a:rPr>
              <a:t>end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workflow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where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users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can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upload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metrics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spc="-120" dirty="0">
                <a:latin typeface="Arial MT"/>
                <a:cs typeface="Arial MT"/>
              </a:rPr>
              <a:t>get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visual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risk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reports.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marR="257175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spc="-10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backend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uses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feature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engineering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deep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learning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models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(Autoencoder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+ </a:t>
            </a:r>
            <a:r>
              <a:rPr sz="2400" spc="-185" dirty="0">
                <a:latin typeface="Arial MT"/>
                <a:cs typeface="Arial MT"/>
              </a:rPr>
              <a:t>MLP)</a:t>
            </a:r>
            <a:r>
              <a:rPr sz="2400" dirty="0">
                <a:latin typeface="Arial MT"/>
                <a:cs typeface="Arial MT"/>
              </a:rPr>
              <a:t> for </a:t>
            </a:r>
            <a:r>
              <a:rPr sz="2400" spc="-130" dirty="0">
                <a:latin typeface="Arial MT"/>
                <a:cs typeface="Arial MT"/>
              </a:rPr>
              <a:t>accurate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defect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prediction.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spc="-165" dirty="0">
                <a:latin typeface="Arial MT"/>
                <a:cs typeface="Arial MT"/>
              </a:rPr>
              <a:t>Explainable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(SHAP)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integrated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show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which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metrics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influenced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prediction.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"/>
            </a:pPr>
            <a:endParaRPr sz="2400">
              <a:latin typeface="Arial MT"/>
              <a:cs typeface="Arial MT"/>
            </a:endParaRPr>
          </a:p>
          <a:p>
            <a:pPr marL="354965" marR="2515870" indent="-342265">
              <a:lnSpc>
                <a:spcPct val="100000"/>
              </a:lnSpc>
              <a:buFont typeface="Wingdings"/>
              <a:buChar char=""/>
              <a:tabLst>
                <a:tab pos="440055" algn="l"/>
              </a:tabLst>
            </a:pPr>
            <a:r>
              <a:rPr sz="2400" spc="-105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system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presents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results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visual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10" dirty="0">
                <a:latin typeface="Arial MT"/>
                <a:cs typeface="Arial MT"/>
              </a:rPr>
              <a:t>easy-</a:t>
            </a:r>
            <a:r>
              <a:rPr sz="2400" dirty="0">
                <a:latin typeface="Arial MT"/>
                <a:cs typeface="Arial MT"/>
              </a:rPr>
              <a:t>to-</a:t>
            </a:r>
            <a:r>
              <a:rPr sz="2400" spc="-75" dirty="0">
                <a:latin typeface="Arial MT"/>
                <a:cs typeface="Arial MT"/>
              </a:rPr>
              <a:t>understand 	</a:t>
            </a:r>
            <a:r>
              <a:rPr sz="2400" spc="-30" dirty="0">
                <a:latin typeface="Arial MT"/>
                <a:cs typeface="Arial MT"/>
              </a:rPr>
              <a:t>format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support:</a:t>
            </a:r>
            <a:endParaRPr sz="2400">
              <a:latin typeface="Arial MT"/>
              <a:cs typeface="Arial MT"/>
            </a:endParaRPr>
          </a:p>
          <a:p>
            <a:pPr marL="2715260" marR="5471795">
              <a:lnSpc>
                <a:spcPct val="104700"/>
              </a:lnSpc>
            </a:pPr>
            <a:r>
              <a:rPr sz="2400" spc="-75" dirty="0">
                <a:latin typeface="Arial MT"/>
                <a:cs typeface="Arial MT"/>
              </a:rPr>
              <a:t>Test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prioritization </a:t>
            </a:r>
            <a:r>
              <a:rPr sz="2400" spc="-150" dirty="0">
                <a:latin typeface="Arial MT"/>
                <a:cs typeface="Arial MT"/>
              </a:rPr>
              <a:t>Risk-</a:t>
            </a:r>
            <a:r>
              <a:rPr sz="2400" spc="-225" dirty="0">
                <a:latin typeface="Arial MT"/>
                <a:cs typeface="Arial MT"/>
              </a:rPr>
              <a:t>based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planning</a:t>
            </a:r>
            <a:endParaRPr sz="2400">
              <a:latin typeface="Arial MT"/>
              <a:cs typeface="Arial MT"/>
            </a:endParaRPr>
          </a:p>
          <a:p>
            <a:pPr marL="2715260">
              <a:lnSpc>
                <a:spcPct val="100000"/>
              </a:lnSpc>
              <a:spcBef>
                <a:spcPts val="135"/>
              </a:spcBef>
            </a:pPr>
            <a:r>
              <a:rPr sz="2400" spc="-25" dirty="0">
                <a:latin typeface="Arial MT"/>
                <a:cs typeface="Arial MT"/>
              </a:rPr>
              <a:t>Better</a:t>
            </a:r>
            <a:r>
              <a:rPr sz="2400" spc="-90" dirty="0">
                <a:latin typeface="Arial MT"/>
                <a:cs typeface="Arial MT"/>
              </a:rPr>
              <a:t> quality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decisions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400" spc="-105" dirty="0">
                <a:latin typeface="Arial MT"/>
                <a:cs typeface="Arial MT"/>
              </a:rPr>
              <a:t>This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converts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research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model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practical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usable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908685"/>
            <a:ext cx="314833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10" dirty="0">
                <a:latin typeface="Tahoma"/>
                <a:cs typeface="Tahoma"/>
              </a:rPr>
              <a:t>CONCLUSION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1959609"/>
            <a:ext cx="933196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5" dirty="0">
                <a:latin typeface="Arial MT"/>
                <a:cs typeface="Arial MT"/>
              </a:rPr>
              <a:t>This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project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25" dirty="0">
                <a:latin typeface="Arial MT"/>
                <a:cs typeface="Arial MT"/>
              </a:rPr>
              <a:t>presents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cloud-</a:t>
            </a:r>
            <a:r>
              <a:rPr sz="2400" spc="-225" dirty="0">
                <a:latin typeface="Arial MT"/>
                <a:cs typeface="Arial MT"/>
              </a:rPr>
              <a:t>based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quality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analytics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system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spc="-80" dirty="0">
                <a:latin typeface="Arial MT"/>
                <a:cs typeface="Arial MT"/>
              </a:rPr>
              <a:t>predicts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defect-</a:t>
            </a:r>
            <a:r>
              <a:rPr sz="2400" spc="-60" dirty="0">
                <a:latin typeface="Arial MT"/>
                <a:cs typeface="Arial MT"/>
              </a:rPr>
              <a:t>prone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modules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using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machine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learning.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By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using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 </a:t>
            </a:r>
            <a:r>
              <a:rPr sz="2400" spc="-90" dirty="0">
                <a:latin typeface="Arial MT"/>
                <a:cs typeface="Arial MT"/>
              </a:rPr>
              <a:t>autoencoder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feature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extraction,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MLP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30" dirty="0">
                <a:latin typeface="Arial MT"/>
                <a:cs typeface="Arial MT"/>
              </a:rPr>
              <a:t>classification,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SHAP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</a:t>
            </a:r>
            <a:r>
              <a:rPr sz="2400" spc="-100" dirty="0">
                <a:latin typeface="Arial MT"/>
                <a:cs typeface="Arial MT"/>
              </a:rPr>
              <a:t>explainability,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system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70" dirty="0">
                <a:latin typeface="Arial MT"/>
                <a:cs typeface="Arial MT"/>
              </a:rPr>
              <a:t>helps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identify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risky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modules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early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supports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decisions.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proposed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40" dirty="0">
                <a:latin typeface="Arial MT"/>
                <a:cs typeface="Arial MT"/>
              </a:rPr>
              <a:t>approach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40" dirty="0">
                <a:latin typeface="Arial MT"/>
                <a:cs typeface="Arial MT"/>
              </a:rPr>
              <a:t>reduces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testing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effort, </a:t>
            </a:r>
            <a:r>
              <a:rPr sz="2400" spc="-80" dirty="0">
                <a:latin typeface="Arial MT"/>
                <a:cs typeface="Arial MT"/>
              </a:rPr>
              <a:t>cost,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improves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overall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software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reliability.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9734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28750"/>
            <a:ext cx="9647555" cy="6395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latin typeface="Arial MT"/>
                <a:cs typeface="Arial MT"/>
              </a:rPr>
              <a:t>[1]</a:t>
            </a:r>
            <a:endParaRPr sz="2200">
              <a:latin typeface="Arial MT"/>
              <a:cs typeface="Arial MT"/>
            </a:endParaRPr>
          </a:p>
          <a:p>
            <a:pPr marL="12700" marR="938530">
              <a:lnSpc>
                <a:spcPct val="100000"/>
              </a:lnSpc>
            </a:pPr>
            <a:r>
              <a:rPr sz="2200" spc="55" dirty="0">
                <a:latin typeface="Arial MT"/>
                <a:cs typeface="Arial MT"/>
              </a:rPr>
              <a:t>“XAI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Driven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Software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Defect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65" dirty="0">
                <a:latin typeface="Arial MT"/>
                <a:cs typeface="Arial MT"/>
              </a:rPr>
              <a:t>Prediction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50" dirty="0">
                <a:latin typeface="Arial MT"/>
                <a:cs typeface="Arial MT"/>
              </a:rPr>
              <a:t>Using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95" dirty="0">
                <a:latin typeface="Arial MT"/>
                <a:cs typeface="Arial MT"/>
              </a:rPr>
              <a:t>Adaptive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25" dirty="0">
                <a:latin typeface="Arial MT"/>
                <a:cs typeface="Arial MT"/>
              </a:rPr>
              <a:t>Feature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10" dirty="0">
                <a:latin typeface="Arial MT"/>
                <a:cs typeface="Arial MT"/>
              </a:rPr>
              <a:t>Engineering </a:t>
            </a:r>
            <a:r>
              <a:rPr sz="2200" spc="-90" dirty="0">
                <a:latin typeface="Arial MT"/>
                <a:cs typeface="Arial MT"/>
              </a:rPr>
              <a:t>Coupled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Autoencoder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80" dirty="0">
                <a:latin typeface="Arial MT"/>
                <a:cs typeface="Arial MT"/>
              </a:rPr>
              <a:t>and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10" dirty="0">
                <a:latin typeface="Arial MT"/>
                <a:cs typeface="Arial MT"/>
              </a:rPr>
              <a:t>MLP,”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295" dirty="0">
                <a:latin typeface="Arial MT"/>
                <a:cs typeface="Arial MT"/>
              </a:rPr>
              <a:t>IEEE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70" dirty="0">
                <a:latin typeface="Arial MT"/>
                <a:cs typeface="Arial MT"/>
              </a:rPr>
              <a:t>Access,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2025.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[2]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114" dirty="0">
                <a:latin typeface="Arial MT"/>
                <a:cs typeface="Arial MT"/>
              </a:rPr>
              <a:t>M.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Ali,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55" dirty="0">
                <a:latin typeface="Arial MT"/>
                <a:cs typeface="Arial MT"/>
              </a:rPr>
              <a:t>Mazhar,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Y.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Arif,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305" dirty="0">
                <a:latin typeface="Arial MT"/>
                <a:cs typeface="Arial MT"/>
              </a:rPr>
              <a:t>S.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Al-</a:t>
            </a:r>
            <a:r>
              <a:rPr sz="2200" spc="-50" dirty="0">
                <a:latin typeface="Arial MT"/>
                <a:cs typeface="Arial MT"/>
              </a:rPr>
              <a:t>Otaibi,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Y.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Y.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130" dirty="0">
                <a:latin typeface="Arial MT"/>
                <a:cs typeface="Arial MT"/>
              </a:rPr>
              <a:t>Ghadi,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29" dirty="0">
                <a:latin typeface="Arial MT"/>
                <a:cs typeface="Arial MT"/>
              </a:rPr>
              <a:t>Shahzad,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14" dirty="0">
                <a:latin typeface="Arial MT"/>
                <a:cs typeface="Arial MT"/>
              </a:rPr>
              <a:t>M.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A.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45" dirty="0">
                <a:latin typeface="Arial MT"/>
                <a:cs typeface="Arial MT"/>
              </a:rPr>
              <a:t>Khan,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H.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Hamam,</a:t>
            </a:r>
            <a:endParaRPr sz="2200">
              <a:latin typeface="Arial MT"/>
              <a:cs typeface="Arial MT"/>
            </a:endParaRPr>
          </a:p>
          <a:p>
            <a:pPr marL="12700" marR="762000">
              <a:lnSpc>
                <a:spcPct val="100000"/>
              </a:lnSpc>
            </a:pPr>
            <a:r>
              <a:rPr sz="2200" spc="-60" dirty="0">
                <a:latin typeface="Arial MT"/>
                <a:cs typeface="Arial MT"/>
              </a:rPr>
              <a:t>“Software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Defect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65" dirty="0">
                <a:latin typeface="Arial MT"/>
                <a:cs typeface="Arial MT"/>
              </a:rPr>
              <a:t>Prediction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50" dirty="0">
                <a:latin typeface="Arial MT"/>
                <a:cs typeface="Arial MT"/>
              </a:rPr>
              <a:t>Using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215" dirty="0">
                <a:latin typeface="Arial MT"/>
                <a:cs typeface="Arial MT"/>
              </a:rPr>
              <a:t>an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75" dirty="0">
                <a:latin typeface="Arial MT"/>
                <a:cs typeface="Arial MT"/>
              </a:rPr>
              <a:t>Intelligent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70" dirty="0">
                <a:latin typeface="Arial MT"/>
                <a:cs typeface="Arial MT"/>
              </a:rPr>
              <a:t>Ensemble-</a:t>
            </a:r>
            <a:r>
              <a:rPr sz="2200" spc="-225" dirty="0">
                <a:latin typeface="Arial MT"/>
                <a:cs typeface="Arial MT"/>
              </a:rPr>
              <a:t>Based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Model,”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315" dirty="0">
                <a:latin typeface="Arial MT"/>
                <a:cs typeface="Arial MT"/>
              </a:rPr>
              <a:t>IEEE </a:t>
            </a:r>
            <a:r>
              <a:rPr sz="2200" spc="-170" dirty="0">
                <a:latin typeface="Arial MT"/>
                <a:cs typeface="Arial MT"/>
              </a:rPr>
              <a:t>Access,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vol.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30" dirty="0">
                <a:latin typeface="Arial MT"/>
                <a:cs typeface="Arial MT"/>
              </a:rPr>
              <a:t>12,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30" dirty="0">
                <a:latin typeface="Arial MT"/>
                <a:cs typeface="Arial MT"/>
              </a:rPr>
              <a:t>pp.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20376–20395,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2024.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415290" indent="-402590">
              <a:lnSpc>
                <a:spcPct val="100000"/>
              </a:lnSpc>
              <a:buAutoNum type="arabicPlain" startAt="3"/>
              <a:tabLst>
                <a:tab pos="415290" algn="l"/>
              </a:tabLst>
            </a:pP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-160" dirty="0">
                <a:latin typeface="Arial MT"/>
                <a:cs typeface="Arial MT"/>
              </a:rPr>
              <a:t>Menzies,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A.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90" dirty="0">
                <a:latin typeface="Arial MT"/>
                <a:cs typeface="Arial MT"/>
              </a:rPr>
              <a:t>Butcher,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A.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Marcus,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Zimmermann,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80" dirty="0">
                <a:latin typeface="Arial MT"/>
                <a:cs typeface="Arial MT"/>
              </a:rPr>
              <a:t>and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D.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Cok,</a:t>
            </a:r>
            <a:endParaRPr sz="2200">
              <a:latin typeface="Arial MT"/>
              <a:cs typeface="Arial MT"/>
            </a:endParaRPr>
          </a:p>
          <a:p>
            <a:pPr marL="12700" marR="878205">
              <a:lnSpc>
                <a:spcPct val="100000"/>
              </a:lnSpc>
            </a:pPr>
            <a:r>
              <a:rPr sz="2200" spc="-65" dirty="0">
                <a:latin typeface="Arial MT"/>
                <a:cs typeface="Arial MT"/>
              </a:rPr>
              <a:t>“Local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45" dirty="0">
                <a:latin typeface="Arial MT"/>
                <a:cs typeface="Arial MT"/>
              </a:rPr>
              <a:t>versus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130" dirty="0">
                <a:latin typeface="Arial MT"/>
                <a:cs typeface="Arial MT"/>
              </a:rPr>
              <a:t>global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25" dirty="0">
                <a:latin typeface="Arial MT"/>
                <a:cs typeface="Arial MT"/>
              </a:rPr>
              <a:t>models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effort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85" dirty="0">
                <a:latin typeface="Arial MT"/>
                <a:cs typeface="Arial MT"/>
              </a:rPr>
              <a:t>estimation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80" dirty="0">
                <a:latin typeface="Arial MT"/>
                <a:cs typeface="Arial MT"/>
              </a:rPr>
              <a:t>and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90" dirty="0">
                <a:latin typeface="Arial MT"/>
                <a:cs typeface="Arial MT"/>
              </a:rPr>
              <a:t>defect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prediction,”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315" dirty="0">
                <a:latin typeface="Arial MT"/>
                <a:cs typeface="Arial MT"/>
              </a:rPr>
              <a:t>IEEE </a:t>
            </a:r>
            <a:r>
              <a:rPr sz="2200" spc="-110" dirty="0">
                <a:latin typeface="Arial MT"/>
                <a:cs typeface="Arial MT"/>
              </a:rPr>
              <a:t>Transactions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Software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55" dirty="0">
                <a:latin typeface="Arial MT"/>
                <a:cs typeface="Arial MT"/>
              </a:rPr>
              <a:t>Engineering,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2011.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415290" indent="-402590">
              <a:lnSpc>
                <a:spcPct val="100000"/>
              </a:lnSpc>
              <a:buAutoNum type="arabicPlain" startAt="4"/>
              <a:tabLst>
                <a:tab pos="415290" algn="l"/>
              </a:tabLst>
            </a:pPr>
            <a:r>
              <a:rPr sz="2200" spc="-90" dirty="0">
                <a:latin typeface="Arial MT"/>
                <a:cs typeface="Arial MT"/>
              </a:rPr>
              <a:t>G.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Boetticher,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60" dirty="0">
                <a:latin typeface="Arial MT"/>
                <a:cs typeface="Arial MT"/>
              </a:rPr>
              <a:t>Menzies,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80" dirty="0">
                <a:latin typeface="Arial MT"/>
                <a:cs typeface="Arial MT"/>
              </a:rPr>
              <a:t>and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T.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Ostrand,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200" spc="-175" dirty="0">
                <a:latin typeface="Arial MT"/>
                <a:cs typeface="Arial MT"/>
              </a:rPr>
              <a:t>“PROMISE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75" dirty="0">
                <a:latin typeface="Arial MT"/>
                <a:cs typeface="Arial MT"/>
              </a:rPr>
              <a:t>Repository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Software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55" dirty="0">
                <a:latin typeface="Arial MT"/>
                <a:cs typeface="Arial MT"/>
              </a:rPr>
              <a:t>Engineering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40" dirty="0">
                <a:latin typeface="Arial MT"/>
                <a:cs typeface="Arial MT"/>
              </a:rPr>
              <a:t>Databases,”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West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95" dirty="0">
                <a:latin typeface="Arial MT"/>
                <a:cs typeface="Arial MT"/>
              </a:rPr>
              <a:t>Virginia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University, </a:t>
            </a:r>
            <a:r>
              <a:rPr sz="2200" spc="-10" dirty="0">
                <a:latin typeface="Arial MT"/>
                <a:cs typeface="Arial MT"/>
              </a:rPr>
              <a:t>2007.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Arial MT"/>
              <a:cs typeface="Arial MT"/>
            </a:endParaRPr>
          </a:p>
          <a:p>
            <a:pPr marL="12700" marR="4110990" indent="402590">
              <a:lnSpc>
                <a:spcPct val="100000"/>
              </a:lnSpc>
              <a:buAutoNum type="arabicPlain" startAt="5"/>
              <a:tabLst>
                <a:tab pos="415290" algn="l"/>
              </a:tabLst>
            </a:pPr>
            <a:r>
              <a:rPr sz="2200" spc="-70" dirty="0">
                <a:latin typeface="Arial MT"/>
                <a:cs typeface="Arial MT"/>
              </a:rPr>
              <a:t>NASA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65" dirty="0">
                <a:latin typeface="Arial MT"/>
                <a:cs typeface="Arial MT"/>
              </a:rPr>
              <a:t>Metrics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Data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25" dirty="0">
                <a:latin typeface="Arial MT"/>
                <a:cs typeface="Arial MT"/>
              </a:rPr>
              <a:t>Program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(MDP), “NASA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Software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Defect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90" dirty="0">
                <a:latin typeface="Arial MT"/>
                <a:cs typeface="Arial MT"/>
              </a:rPr>
              <a:t>Datasets,”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90" dirty="0">
                <a:latin typeface="Arial MT"/>
                <a:cs typeface="Arial MT"/>
              </a:rPr>
              <a:t>NASA,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95" dirty="0">
                <a:latin typeface="Arial MT"/>
                <a:cs typeface="Arial MT"/>
              </a:rPr>
              <a:t>USA.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8138" y="3299142"/>
            <a:ext cx="656844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0" dirty="0">
                <a:solidFill>
                  <a:srgbClr val="1F1E1E"/>
                </a:solidFill>
                <a:latin typeface="Tahoma"/>
                <a:cs typeface="Tahoma"/>
              </a:rPr>
              <a:t>THANK</a:t>
            </a:r>
            <a:r>
              <a:rPr sz="9600" b="0" spc="-31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9600" b="0" spc="-25" dirty="0">
                <a:solidFill>
                  <a:srgbClr val="1F1E1E"/>
                </a:solidFill>
                <a:latin typeface="Tahoma"/>
                <a:cs typeface="Tahoma"/>
              </a:rPr>
              <a:t>YOU</a:t>
            </a:r>
            <a:endParaRPr sz="9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872</Words>
  <Application>Microsoft Office PowerPoint</Application>
  <PresentationFormat>Custom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Arial MT</vt:lpstr>
      <vt:lpstr>Calibri</vt:lpstr>
      <vt:lpstr>Tahoma</vt:lpstr>
      <vt:lpstr>Wingdings</vt:lpstr>
      <vt:lpstr>Office Theme</vt:lpstr>
      <vt:lpstr>V.S.B COLLEGE OF ENGINEERING TECHNICAL</vt:lpstr>
      <vt:lpstr>AGENDA</vt:lpstr>
      <vt:lpstr>OBJECTIVES</vt:lpstr>
      <vt:lpstr>PROBLEM INTRODUCTION</vt:lpstr>
      <vt:lpstr>LITERATURE REVIEW</vt:lpstr>
      <vt:lpstr>EXISTING SYSTEM</vt:lpstr>
      <vt:lpstr>Proposed System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 Mohammed Thahir</dc:creator>
  <dc:description/>
  <cp:lastModifiedBy>S0392711</cp:lastModifiedBy>
  <cp:revision>1</cp:revision>
  <dcterms:created xsi:type="dcterms:W3CDTF">2026-04-29T05:22:11Z</dcterms:created>
  <dcterms:modified xsi:type="dcterms:W3CDTF">2026-04-29T05:37:14Z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2026-04-29T00:00:00Z</vt:filetime>
  </property>
  <property fmtid="{D5CDD505-2E9C-101B-9397-08002B2CF9AE}" pid="5" name="Producer">
    <vt:lpwstr>macOS Version 26.2 (Build 25C56) Quartz PDFContext</vt:lpwstr>
  </property>
  <property fmtid="{D5CDD505-2E9C-101B-9397-08002B2CF9AE}" pid="6" name="SourceModified">
    <vt:lpwstr>D:20260129235953+00'00'</vt:lpwstr>
  </property>
</Properties>
</file>